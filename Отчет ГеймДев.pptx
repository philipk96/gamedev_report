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3" r:id="rId9"/>
    <p:sldId id="264" r:id="rId10"/>
    <p:sldId id="262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4D10"/>
    <a:srgbClr val="8BE5EA"/>
    <a:srgbClr val="FFFE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54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2FEC79-E552-4D1B-B858-9BB78C3CED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A32CD25-A1D0-4920-B41E-D55701B1F0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F8A3C19-9171-4527-8485-09F836C29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97392-B455-437A-8EE5-491A58C6AE34}" type="datetimeFigureOut">
              <a:rPr lang="ru-RU" smtClean="0"/>
              <a:t>23.12.2023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ED2FE6D-F938-43BB-A74F-52A8551CD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CECE982-8A86-4228-800B-A7CC182B4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E5526-33EF-4A0D-9D01-CF741DF588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3538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FF6746-7B26-4816-A6EA-AC1019FB0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45EB9D8-EF43-4E2D-8815-503A5D33C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97392-B455-437A-8EE5-491A58C6AE34}" type="datetimeFigureOut">
              <a:rPr lang="ru-RU" smtClean="0"/>
              <a:t>23.12.2023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B3AEBEC-BFFB-4C17-8170-6694798AC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032212B-3855-4C7A-82E3-956F0D850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E5526-33EF-4A0D-9D01-CF741DF588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8953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6AF19B-D61A-4115-9888-ABD965FDF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C505219-19E5-4BD5-82A5-56940FF396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2605E39-D3A7-447F-A0BA-5C33A947B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97392-B455-437A-8EE5-491A58C6AE34}" type="datetimeFigureOut">
              <a:rPr lang="ru-RU" smtClean="0"/>
              <a:t>23.12.2023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0F20104-E6F7-4B52-BD05-0E9AAAEE1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98C2E63-9A98-478F-8732-8F662EF4C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E5526-33EF-4A0D-9D01-CF741DF588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5629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4AF645-F316-4324-B20D-86C8253A9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B75D36A-D06A-4A57-BDCA-CCDB858EC8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AF86382-636D-42CA-B799-277F3A98E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97392-B455-437A-8EE5-491A58C6AE34}" type="datetimeFigureOut">
              <a:rPr lang="ru-RU" smtClean="0"/>
              <a:t>23.12.2023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DE11FC1-2493-4C03-9F7B-439561384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807781B-6435-477F-815D-4C73AE69E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E5526-33EF-4A0D-9D01-CF741DF588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4653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BBBCC7-7D69-4E21-96DE-BB3FEC68C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98C65B8-7C2B-48AB-B7D3-4DCA3DD845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59231DC-81A3-4941-B970-778FA0A46C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2F4F8B8-A2C5-4DCF-A6F7-84DF7256A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97392-B455-437A-8EE5-491A58C6AE34}" type="datetimeFigureOut">
              <a:rPr lang="ru-RU" smtClean="0"/>
              <a:t>23.12.2023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015D8C2-E981-4194-981C-1007A8E17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5858ECD-533D-40AA-B4B0-A7BB8E295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E5526-33EF-4A0D-9D01-CF741DF588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66075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AE993C-4B33-46D7-846C-A294BEB9F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4BE3F1B-4FE9-45A6-90D7-106FDB177C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41E97EA-575F-4FB7-9508-3C625D02E7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4E95F83-15D0-449D-98D2-AFE1C604FD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501AFBB-BC79-4181-B7F7-19196FEAE6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273E0B6-6B2D-43BA-89E4-2C9B830CF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97392-B455-437A-8EE5-491A58C6AE34}" type="datetimeFigureOut">
              <a:rPr lang="ru-RU" smtClean="0"/>
              <a:t>23.12.2023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15603C1-DBA2-4B01-90F2-46C8D71A8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C2FF3EA-BB29-495F-A652-90F6F484B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E5526-33EF-4A0D-9D01-CF741DF588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6058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D34203-2C8C-42C8-AB2D-6FE83E6E9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9B16ADF-DE13-4F6F-85DC-8FBE8E731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97392-B455-437A-8EE5-491A58C6AE34}" type="datetimeFigureOut">
              <a:rPr lang="ru-RU" smtClean="0"/>
              <a:t>23.12.2023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B8E43DB-A27D-40B5-AD86-F3D137FE7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CD5DF53-BB11-4D0D-B554-259A14CBA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E5526-33EF-4A0D-9D01-CF741DF588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661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4A9CA6B7-403B-4790-9CF5-DF5E60C53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97392-B455-437A-8EE5-491A58C6AE34}" type="datetimeFigureOut">
              <a:rPr lang="ru-RU" smtClean="0"/>
              <a:t>23.12.2023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BF26A1B-A02A-404A-8298-BB3BC4185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197DD3C-3DD1-4CDC-A283-10AD58BEA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E5526-33EF-4A0D-9D01-CF741DF588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0471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5E1CDE-3E05-4E8D-9B9D-3361494C2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013E9A3-14BF-46A4-96C8-0354A04534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69E0DAB-3764-40B3-BC61-8A37182F67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FA24ECE-6FD1-477E-B6A9-38028FE3D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97392-B455-437A-8EE5-491A58C6AE34}" type="datetimeFigureOut">
              <a:rPr lang="ru-RU" smtClean="0"/>
              <a:t>23.12.2023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AC6BD26-993E-4820-894C-EF8F8F3BF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ABFF1F5-1C02-47A8-8149-0B5D04DED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E5526-33EF-4A0D-9D01-CF741DF588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0763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5AE9A0-D11C-40DD-A737-4DD81FC06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E98634B-9B60-4894-BDBA-6A9692DB1A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1D0FA49-560E-4604-8AA2-574328DBAB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29AA7BD-79B4-4140-A574-08F6D00DE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97392-B455-437A-8EE5-491A58C6AE34}" type="datetimeFigureOut">
              <a:rPr lang="ru-RU" smtClean="0"/>
              <a:t>23.12.2023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8036103-C160-4ABB-AFED-6DC2253C0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DE4A774-70C3-4955-AB7E-BFD48F6C2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E5526-33EF-4A0D-9D01-CF741DF588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2393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5D27FA-9E00-4FC2-B309-1329025C7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8B0A820-EF6D-48F6-A3C1-32E0F68E1A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375FE1F-53CB-48CA-AE49-E3B41B16A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97392-B455-437A-8EE5-491A58C6AE34}" type="datetimeFigureOut">
              <a:rPr lang="ru-RU" smtClean="0"/>
              <a:t>23.12.2023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96BB65E-AEA3-49D4-B940-4E678DAC6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170A9CD-E4D8-4165-9542-4C52A9905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E5526-33EF-4A0D-9D01-CF741DF588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68947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6356EA1-C53A-443A-844F-E4BD4CD199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3495520-6AA3-4DCD-90AA-A756136F58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38A8E32-2350-4180-82A5-6469FF079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97392-B455-437A-8EE5-491A58C6AE34}" type="datetimeFigureOut">
              <a:rPr lang="ru-RU" smtClean="0"/>
              <a:t>23.12.2023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A9B42F2-C617-4641-BDB8-239E47F95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D4BD1F-E5F1-4EF0-9333-E454CE280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E5526-33EF-4A0D-9D01-CF741DF588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1574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7BB48D-EEFA-4373-AB5E-C5FE8BF07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479CEB4-5B20-48BE-9F18-B1B141EFCC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5EB64C2-956A-42F5-9B7C-6537FAF136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997392-B455-437A-8EE5-491A58C6AE34}" type="datetimeFigureOut">
              <a:rPr lang="ru-RU" smtClean="0"/>
              <a:t>23.12.2023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A0F5E0F-4D06-48D6-8B70-BAC0AD1994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7F0B34B-4F79-4570-B443-3ABF9656F4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2E5526-33EF-4A0D-9D01-CF741DF588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1373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658FE8E-64C7-4689-B003-5780E72EDA53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08070F"/>
              </a:clrFrom>
              <a:clrTo>
                <a:srgbClr val="08070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651" y="0"/>
            <a:ext cx="4198776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F81F561-3B27-4055-B69B-FCBB1B823B5D}"/>
              </a:ext>
            </a:extLst>
          </p:cNvPr>
          <p:cNvSpPr txBox="1"/>
          <p:nvPr/>
        </p:nvSpPr>
        <p:spPr>
          <a:xfrm>
            <a:off x="5686125" y="1899204"/>
            <a:ext cx="6097604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8BE5EA"/>
                </a:solidFill>
                <a:latin typeface="Cascadia Code Light" panose="020B0609020000020004" pitchFamily="49" charset="0"/>
                <a:cs typeface="Cascadia Code Light" panose="020B0609020000020004" pitchFamily="49" charset="0"/>
              </a:rPr>
              <a:t>Roguelike </a:t>
            </a:r>
            <a:r>
              <a:rPr lang="ru-RU" sz="2400" dirty="0">
                <a:solidFill>
                  <a:srgbClr val="8BE5EA"/>
                </a:solidFill>
                <a:latin typeface="Cascadia Code Light" panose="020B0609020000020004" pitchFamily="49" charset="0"/>
                <a:cs typeface="Cascadia Code Light" panose="020B0609020000020004" pitchFamily="49" charset="0"/>
              </a:rPr>
              <a:t>приключенческий шутер</a:t>
            </a:r>
            <a:endParaRPr lang="en-US" sz="2400" dirty="0">
              <a:solidFill>
                <a:srgbClr val="8BE5EA"/>
              </a:solidFill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  <a:p>
            <a:endParaRPr lang="ru-RU" sz="2400" dirty="0">
              <a:solidFill>
                <a:srgbClr val="8BE5EA"/>
              </a:solidFill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  <a:p>
            <a:pPr algn="ctr"/>
            <a:r>
              <a:rPr lang="en-US" sz="6600" dirty="0">
                <a:solidFill>
                  <a:srgbClr val="E34D1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INVALID </a:t>
            </a:r>
            <a:endParaRPr lang="ru-RU" sz="6600" dirty="0">
              <a:solidFill>
                <a:srgbClr val="E34D10"/>
              </a:solidFill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2A0947-1DBC-4468-8164-CC1EA2B7DAF9}"/>
              </a:ext>
            </a:extLst>
          </p:cNvPr>
          <p:cNvSpPr txBox="1"/>
          <p:nvPr/>
        </p:nvSpPr>
        <p:spPr>
          <a:xfrm>
            <a:off x="7498079" y="4517273"/>
            <a:ext cx="4443663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3200" dirty="0">
                <a:solidFill>
                  <a:srgbClr val="8BE5EA"/>
                </a:solidFill>
                <a:latin typeface="Cascadia Code Light" panose="020B0609020000020004" pitchFamily="49" charset="0"/>
                <a:cs typeface="Cascadia Code Light" panose="020B0609020000020004" pitchFamily="49" charset="0"/>
              </a:rPr>
              <a:t>Покровский К.К.</a:t>
            </a:r>
          </a:p>
          <a:p>
            <a:pPr algn="r"/>
            <a:r>
              <a:rPr lang="ru-RU" sz="3200" dirty="0" err="1">
                <a:solidFill>
                  <a:srgbClr val="8BE5EA"/>
                </a:solidFill>
                <a:latin typeface="Cascadia Code Light" panose="020B0609020000020004" pitchFamily="49" charset="0"/>
                <a:cs typeface="Cascadia Code Light" panose="020B0609020000020004" pitchFamily="49" charset="0"/>
              </a:rPr>
              <a:t>Буланцев</a:t>
            </a:r>
            <a:r>
              <a:rPr lang="ru-RU" sz="3200" dirty="0">
                <a:solidFill>
                  <a:srgbClr val="8BE5EA"/>
                </a:solidFill>
                <a:latin typeface="Cascadia Code Light" panose="020B0609020000020004" pitchFamily="49" charset="0"/>
                <a:cs typeface="Cascadia Code Light" panose="020B0609020000020004" pitchFamily="49" charset="0"/>
              </a:rPr>
              <a:t> И.К.</a:t>
            </a:r>
          </a:p>
          <a:p>
            <a:pPr algn="r"/>
            <a:r>
              <a:rPr lang="ru-RU" sz="3200" dirty="0" err="1">
                <a:solidFill>
                  <a:srgbClr val="8BE5EA"/>
                </a:solidFill>
                <a:latin typeface="Cascadia Code Light" panose="020B0609020000020004" pitchFamily="49" charset="0"/>
                <a:cs typeface="Cascadia Code Light" panose="020B0609020000020004" pitchFamily="49" charset="0"/>
              </a:rPr>
              <a:t>Подогова</a:t>
            </a:r>
            <a:r>
              <a:rPr lang="ru-RU" sz="3200" dirty="0">
                <a:solidFill>
                  <a:srgbClr val="8BE5EA"/>
                </a:solidFill>
                <a:latin typeface="Cascadia Code Light" panose="020B0609020000020004" pitchFamily="49" charset="0"/>
                <a:cs typeface="Cascadia Code Light" panose="020B0609020000020004" pitchFamily="49" charset="0"/>
              </a:rPr>
              <a:t> А.М.</a:t>
            </a:r>
          </a:p>
          <a:p>
            <a:pPr algn="r"/>
            <a:r>
              <a:rPr lang="ru-RU" sz="3200" dirty="0">
                <a:solidFill>
                  <a:srgbClr val="8BE5EA"/>
                </a:solidFill>
                <a:latin typeface="Cascadia Code Light" panose="020B0609020000020004" pitchFamily="49" charset="0"/>
                <a:cs typeface="Cascadia Code Light" panose="020B0609020000020004" pitchFamily="49" charset="0"/>
              </a:rPr>
              <a:t>Куликов Ф.А.</a:t>
            </a:r>
            <a:endParaRPr lang="ru-RU" sz="3200" dirty="0"/>
          </a:p>
        </p:txBody>
      </p:sp>
      <p:cxnSp>
        <p:nvCxnSpPr>
          <p:cNvPr id="12" name="Google Shape;133;p29">
            <a:extLst>
              <a:ext uri="{FF2B5EF4-FFF2-40B4-BE49-F238E27FC236}">
                <a16:creationId xmlns:a16="http://schemas.microsoft.com/office/drawing/2014/main" id="{EFDE31F8-E154-4CF3-BC5F-7E13D1412A8B}"/>
              </a:ext>
            </a:extLst>
          </p:cNvPr>
          <p:cNvCxnSpPr/>
          <p:nvPr/>
        </p:nvCxnSpPr>
        <p:spPr>
          <a:xfrm>
            <a:off x="8219660" y="4402755"/>
            <a:ext cx="3424800" cy="0"/>
          </a:xfrm>
          <a:prstGeom prst="straightConnector1">
            <a:avLst/>
          </a:prstGeom>
          <a:noFill/>
          <a:ln w="28575" cap="flat" cmpd="sng">
            <a:solidFill>
              <a:srgbClr val="E34D10"/>
            </a:solidFill>
            <a:prstDash val="solid"/>
            <a:round/>
            <a:headEnd type="none" w="med" len="med"/>
            <a:tailEnd type="diamond" w="med" len="med"/>
          </a:ln>
        </p:spPr>
      </p:cxnSp>
    </p:spTree>
    <p:extLst>
      <p:ext uri="{BB962C8B-B14F-4D97-AF65-F5344CB8AC3E}">
        <p14:creationId xmlns:p14="http://schemas.microsoft.com/office/powerpoint/2010/main" val="9671858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1FB1D22-C0A4-4FE0-B47B-9BCCAC5DEB1D}"/>
              </a:ext>
            </a:extLst>
          </p:cNvPr>
          <p:cNvSpPr txBox="1"/>
          <p:nvPr/>
        </p:nvSpPr>
        <p:spPr>
          <a:xfrm>
            <a:off x="218975" y="185907"/>
            <a:ext cx="609760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solidFill>
                  <a:srgbClr val="E34D1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СЮЖЕТ</a:t>
            </a:r>
            <a:endParaRPr lang="ru-RU" sz="2800" dirty="0"/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173DACA7-377E-46A6-B91E-0A46E2803DF7}"/>
              </a:ext>
            </a:extLst>
          </p:cNvPr>
          <p:cNvCxnSpPr>
            <a:cxnSpLocks/>
          </p:cNvCxnSpPr>
          <p:nvPr/>
        </p:nvCxnSpPr>
        <p:spPr>
          <a:xfrm>
            <a:off x="218975" y="709127"/>
            <a:ext cx="1128562" cy="0"/>
          </a:xfrm>
          <a:prstGeom prst="line">
            <a:avLst/>
          </a:prstGeom>
          <a:ln w="57150">
            <a:solidFill>
              <a:srgbClr val="8BE5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60F91CB7-F27D-443E-B753-9D2F54F1FB61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0E0D12"/>
              </a:clrFrom>
              <a:clrTo>
                <a:srgbClr val="0E0D12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855" y="1135781"/>
            <a:ext cx="2613554" cy="426880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DCCF8E6-D9C2-438A-8A16-B9DAC2B46CF6}"/>
              </a:ext>
            </a:extLst>
          </p:cNvPr>
          <p:cNvSpPr txBox="1"/>
          <p:nvPr/>
        </p:nvSpPr>
        <p:spPr>
          <a:xfrm>
            <a:off x="3453062" y="1135781"/>
            <a:ext cx="8145380" cy="3901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800" dirty="0">
                <a:solidFill>
                  <a:srgbClr val="8BE5EA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Протагонист – ученый</a:t>
            </a:r>
            <a:r>
              <a:rPr lang="ru-RU" sz="2800" dirty="0">
                <a:solidFill>
                  <a:srgbClr val="E34D1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, создавший  машину времени и </a:t>
            </a:r>
            <a:r>
              <a:rPr lang="ru-RU" sz="2800" dirty="0">
                <a:solidFill>
                  <a:srgbClr val="8BE5EA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затерявшийся</a:t>
            </a:r>
            <a:r>
              <a:rPr lang="ru-RU" sz="2800" dirty="0">
                <a:solidFill>
                  <a:srgbClr val="E34D1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в следствие ее поломки </a:t>
            </a:r>
            <a:r>
              <a:rPr lang="ru-RU" sz="2800" dirty="0">
                <a:solidFill>
                  <a:srgbClr val="8BE5EA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в других измерениях</a:t>
            </a:r>
            <a:r>
              <a:rPr lang="ru-RU" sz="2800" dirty="0">
                <a:solidFill>
                  <a:srgbClr val="E34D1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. </a:t>
            </a:r>
            <a:r>
              <a:rPr lang="ru-RU" sz="2800" dirty="0">
                <a:solidFill>
                  <a:srgbClr val="8BE5EA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Его задача – </a:t>
            </a:r>
            <a:r>
              <a:rPr lang="ru-RU" sz="2800" dirty="0">
                <a:solidFill>
                  <a:srgbClr val="E34D1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найти утерянные части своего изобретения и </a:t>
            </a:r>
            <a:r>
              <a:rPr lang="ru-RU" sz="2800" dirty="0">
                <a:solidFill>
                  <a:srgbClr val="8BE5EA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вернуться домой.</a:t>
            </a:r>
            <a:endParaRPr lang="ru-RU" sz="2800" dirty="0">
              <a:solidFill>
                <a:srgbClr val="8BE5E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7106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1FB1D22-C0A4-4FE0-B47B-9BCCAC5DEB1D}"/>
              </a:ext>
            </a:extLst>
          </p:cNvPr>
          <p:cNvSpPr txBox="1"/>
          <p:nvPr/>
        </p:nvSpPr>
        <p:spPr>
          <a:xfrm>
            <a:off x="218975" y="185907"/>
            <a:ext cx="609760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solidFill>
                  <a:srgbClr val="E34D1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ИГРОВОЙ ДИЗАЙН</a:t>
            </a:r>
            <a:endParaRPr lang="ru-RU" sz="2800" dirty="0"/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173DACA7-377E-46A6-B91E-0A46E2803DF7}"/>
              </a:ext>
            </a:extLst>
          </p:cNvPr>
          <p:cNvCxnSpPr>
            <a:cxnSpLocks/>
          </p:cNvCxnSpPr>
          <p:nvPr/>
        </p:nvCxnSpPr>
        <p:spPr>
          <a:xfrm>
            <a:off x="218975" y="709127"/>
            <a:ext cx="3178743" cy="0"/>
          </a:xfrm>
          <a:prstGeom prst="line">
            <a:avLst/>
          </a:prstGeom>
          <a:ln w="57150">
            <a:solidFill>
              <a:srgbClr val="8BE5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9F32E3C-269D-4098-93E2-75043BCAC51A}"/>
              </a:ext>
            </a:extLst>
          </p:cNvPr>
          <p:cNvSpPr txBox="1"/>
          <p:nvPr/>
        </p:nvSpPr>
        <p:spPr>
          <a:xfrm>
            <a:off x="218975" y="1248979"/>
            <a:ext cx="598932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800" dirty="0">
                <a:solidFill>
                  <a:srgbClr val="E34D1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Базовый геймплей – </a:t>
            </a:r>
            <a:r>
              <a:rPr lang="ru-RU" sz="2800" dirty="0">
                <a:solidFill>
                  <a:srgbClr val="8BE5EA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исследование мрачных </a:t>
            </a:r>
            <a:r>
              <a:rPr lang="ru-RU" sz="2800" dirty="0">
                <a:solidFill>
                  <a:srgbClr val="E34D1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процедурно-генерируемых </a:t>
            </a:r>
            <a:r>
              <a:rPr lang="ru-RU" sz="2800" dirty="0">
                <a:solidFill>
                  <a:srgbClr val="8BE5EA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подземелий и сражение с </a:t>
            </a:r>
            <a:r>
              <a:rPr lang="ru-RU" sz="2800" dirty="0">
                <a:solidFill>
                  <a:srgbClr val="E34D1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разнообразными </a:t>
            </a:r>
            <a:r>
              <a:rPr lang="ru-RU" sz="2800" dirty="0">
                <a:solidFill>
                  <a:srgbClr val="8BE5EA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монстрами</a:t>
            </a:r>
            <a:r>
              <a:rPr lang="ru-RU" sz="2800" dirty="0">
                <a:solidFill>
                  <a:srgbClr val="E34D1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под гнетущий эмбиент.</a:t>
            </a:r>
            <a:endParaRPr lang="en-US" sz="2800" dirty="0">
              <a:solidFill>
                <a:srgbClr val="E34D10"/>
              </a:solidFill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pPr algn="just"/>
            <a:r>
              <a:rPr lang="ru-RU" sz="2800" dirty="0">
                <a:solidFill>
                  <a:srgbClr val="8BE5EA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Оружие героя – слезы</a:t>
            </a:r>
            <a:r>
              <a:rPr lang="ru-RU" sz="2800" dirty="0">
                <a:solidFill>
                  <a:srgbClr val="E34D1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, которыми он пробивает свой путь к свободе.</a:t>
            </a:r>
            <a:endParaRPr lang="en-US" sz="2800" dirty="0">
              <a:solidFill>
                <a:srgbClr val="E34D10"/>
              </a:solidFill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pPr algn="just"/>
            <a:endParaRPr lang="ru-RU" sz="280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13B1379-46D4-4EA3-9312-59C6C8A19F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3939" y="447517"/>
            <a:ext cx="4848726" cy="2727410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8DD8BC19-C969-4E87-9CFE-49DF6D5647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2457" y="3288289"/>
            <a:ext cx="5550568" cy="3122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3309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1FB1D22-C0A4-4FE0-B47B-9BCCAC5DEB1D}"/>
              </a:ext>
            </a:extLst>
          </p:cNvPr>
          <p:cNvSpPr txBox="1"/>
          <p:nvPr/>
        </p:nvSpPr>
        <p:spPr>
          <a:xfrm>
            <a:off x="218975" y="185907"/>
            <a:ext cx="609760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solidFill>
                  <a:srgbClr val="E34D1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ИГРОВОЙ ДИЗАЙН</a:t>
            </a:r>
            <a:endParaRPr lang="ru-RU" sz="2800" dirty="0"/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173DACA7-377E-46A6-B91E-0A46E2803DF7}"/>
              </a:ext>
            </a:extLst>
          </p:cNvPr>
          <p:cNvCxnSpPr>
            <a:cxnSpLocks/>
          </p:cNvCxnSpPr>
          <p:nvPr/>
        </p:nvCxnSpPr>
        <p:spPr>
          <a:xfrm>
            <a:off x="218975" y="709127"/>
            <a:ext cx="3621505" cy="0"/>
          </a:xfrm>
          <a:prstGeom prst="line">
            <a:avLst/>
          </a:prstGeom>
          <a:ln w="57150">
            <a:solidFill>
              <a:srgbClr val="8BE5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0A77FD6-13AF-4E85-A133-277BC5E97930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B26C00"/>
              </a:clrFrom>
              <a:clrTo>
                <a:srgbClr val="B26C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919874" y="2623558"/>
            <a:ext cx="1219370" cy="771633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93DFAC3-DDC6-42A8-BFC4-1253BC7B126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D17D00"/>
              </a:clrFrom>
              <a:clrTo>
                <a:srgbClr val="D17D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890661" y="4413145"/>
            <a:ext cx="2314898" cy="1676634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4ED1201-F3FE-407A-B812-688F68D28BF0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D17D00"/>
              </a:clrFrom>
              <a:clrTo>
                <a:srgbClr val="D17D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391643" y="1759205"/>
            <a:ext cx="1238423" cy="1752845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E0C19B8-EAEF-45C5-98F8-87BADE46D200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B26C00"/>
              </a:clrFrom>
              <a:clrTo>
                <a:srgbClr val="B26C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043452" y="777404"/>
            <a:ext cx="2095792" cy="112410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DDA1819-1988-4B2A-9554-0E0C4ADDC507}"/>
              </a:ext>
            </a:extLst>
          </p:cNvPr>
          <p:cNvSpPr txBox="1"/>
          <p:nvPr/>
        </p:nvSpPr>
        <p:spPr>
          <a:xfrm>
            <a:off x="210413" y="855486"/>
            <a:ext cx="8473786" cy="2968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3200" dirty="0">
                <a:solidFill>
                  <a:srgbClr val="E34D1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На своем пути </a:t>
            </a:r>
            <a:r>
              <a:rPr lang="ru-RU" sz="3200" dirty="0">
                <a:solidFill>
                  <a:srgbClr val="8BE5EA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герой встретит </a:t>
            </a:r>
            <a:r>
              <a:rPr lang="ru-RU" sz="3200" dirty="0">
                <a:solidFill>
                  <a:srgbClr val="E34D1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не только </a:t>
            </a:r>
            <a:r>
              <a:rPr lang="ru-RU" sz="3200" dirty="0">
                <a:solidFill>
                  <a:srgbClr val="8BE5EA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опасных противников</a:t>
            </a:r>
            <a:r>
              <a:rPr lang="en-US" sz="3200" dirty="0">
                <a:solidFill>
                  <a:srgbClr val="8BE5EA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, </a:t>
            </a:r>
            <a:r>
              <a:rPr lang="ru-RU" sz="3200" dirty="0">
                <a:solidFill>
                  <a:srgbClr val="8BE5EA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наделенных искусственным интеллектом </a:t>
            </a:r>
            <a:r>
              <a:rPr lang="ru-RU" sz="3200" dirty="0">
                <a:solidFill>
                  <a:srgbClr val="E34D1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…</a:t>
            </a:r>
            <a:endParaRPr lang="ru-RU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FD8BE0F-6556-4602-989A-FB3A27F179ED}"/>
              </a:ext>
            </a:extLst>
          </p:cNvPr>
          <p:cNvSpPr txBox="1"/>
          <p:nvPr/>
        </p:nvSpPr>
        <p:spPr>
          <a:xfrm>
            <a:off x="218975" y="4866719"/>
            <a:ext cx="609760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>
                <a:solidFill>
                  <a:srgbClr val="E34D1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но </a:t>
            </a:r>
            <a:r>
              <a:rPr lang="ru-RU" sz="3200" dirty="0">
                <a:solidFill>
                  <a:srgbClr val="8BE5EA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и</a:t>
            </a:r>
            <a:r>
              <a:rPr lang="ru-RU" sz="3200" dirty="0">
                <a:solidFill>
                  <a:srgbClr val="E34D1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ru-RU" sz="3200" dirty="0">
                <a:solidFill>
                  <a:srgbClr val="8BE5EA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ценные сокровища</a:t>
            </a:r>
            <a:endParaRPr lang="ru-RU" sz="3200" dirty="0">
              <a:solidFill>
                <a:srgbClr val="8BE5EA"/>
              </a:solidFill>
            </a:endParaRP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A95FD0E5-143D-44A3-BA39-76474316082C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D17D00"/>
              </a:clrFrom>
              <a:clrTo>
                <a:srgbClr val="D17D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934380" y="4916176"/>
            <a:ext cx="1533739" cy="1457528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133ADCAA-DC7F-457E-A390-B66EED7DC02F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D17D00"/>
              </a:clrFrom>
              <a:clrTo>
                <a:srgbClr val="D17D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630066" y="5350004"/>
            <a:ext cx="1238423" cy="1190791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E8BC0543-39D4-4D3A-8D65-9C1B41CACA84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D17D00"/>
              </a:clrFrom>
              <a:clrTo>
                <a:srgbClr val="D17D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630066" y="4234097"/>
            <a:ext cx="1011291" cy="1115907"/>
          </a:xfrm>
          <a:prstGeom prst="rect">
            <a:avLst/>
          </a:prstGeom>
        </p:spPr>
      </p:pic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31F0882D-BF59-45B7-99EF-227753DB0C6E}"/>
              </a:ext>
            </a:extLst>
          </p:cNvPr>
          <p:cNvCxnSpPr/>
          <p:nvPr/>
        </p:nvCxnSpPr>
        <p:spPr>
          <a:xfrm>
            <a:off x="218975" y="4077824"/>
            <a:ext cx="10920269" cy="0"/>
          </a:xfrm>
          <a:prstGeom prst="line">
            <a:avLst/>
          </a:prstGeom>
          <a:ln w="19050">
            <a:solidFill>
              <a:srgbClr val="8BE5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7202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1FB1D22-C0A4-4FE0-B47B-9BCCAC5DEB1D}"/>
              </a:ext>
            </a:extLst>
          </p:cNvPr>
          <p:cNvSpPr txBox="1"/>
          <p:nvPr/>
        </p:nvSpPr>
        <p:spPr>
          <a:xfrm>
            <a:off x="218975" y="185907"/>
            <a:ext cx="609760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solidFill>
                  <a:srgbClr val="E34D1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ВНУТРИИГРОВАЯ ЭКОНОМИКА</a:t>
            </a:r>
            <a:endParaRPr lang="ru-RU" sz="2800" dirty="0"/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173DACA7-377E-46A6-B91E-0A46E2803DF7}"/>
              </a:ext>
            </a:extLst>
          </p:cNvPr>
          <p:cNvCxnSpPr>
            <a:cxnSpLocks/>
          </p:cNvCxnSpPr>
          <p:nvPr/>
        </p:nvCxnSpPr>
        <p:spPr>
          <a:xfrm>
            <a:off x="218975" y="709127"/>
            <a:ext cx="4953660" cy="0"/>
          </a:xfrm>
          <a:prstGeom prst="line">
            <a:avLst/>
          </a:prstGeom>
          <a:ln w="57150">
            <a:solidFill>
              <a:srgbClr val="8BE5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83DB7B2-E156-4BEA-967F-16DC7118E8E2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E6E6E6"/>
              </a:clrFrom>
              <a:clrTo>
                <a:srgbClr val="E6E6E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10905" y="2187696"/>
            <a:ext cx="1275169" cy="1354586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1388F95-FB17-4411-A376-43DB759C1A73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18975" y="3714750"/>
            <a:ext cx="1459028" cy="106166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DF9FEEF-2550-4A37-B870-4764AD1CD9A0}"/>
              </a:ext>
            </a:extLst>
          </p:cNvPr>
          <p:cNvSpPr txBox="1"/>
          <p:nvPr/>
        </p:nvSpPr>
        <p:spPr>
          <a:xfrm>
            <a:off x="220577" y="1070949"/>
            <a:ext cx="1182854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solidFill>
                  <a:srgbClr val="8BE5EA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На следующих этапах разработки планируется введение 2 типов валют – золотые монетки (</a:t>
            </a:r>
            <a:r>
              <a:rPr lang="en-US" sz="2400" dirty="0">
                <a:solidFill>
                  <a:srgbClr val="8BE5EA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soft</a:t>
            </a:r>
            <a:r>
              <a:rPr lang="ru-RU" sz="2400" dirty="0">
                <a:solidFill>
                  <a:srgbClr val="8BE5EA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-валюта) и бриллианты (</a:t>
            </a:r>
            <a:r>
              <a:rPr lang="en-US" sz="2400" dirty="0">
                <a:solidFill>
                  <a:srgbClr val="8BE5EA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hard-</a:t>
            </a:r>
            <a:r>
              <a:rPr lang="ru-RU" sz="2400" dirty="0">
                <a:solidFill>
                  <a:srgbClr val="8BE5EA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валюта)</a:t>
            </a:r>
            <a:endParaRPr lang="ru-RU" sz="2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0A03BEF-668E-4AE0-899B-7C7882441369}"/>
              </a:ext>
            </a:extLst>
          </p:cNvPr>
          <p:cNvSpPr txBox="1"/>
          <p:nvPr/>
        </p:nvSpPr>
        <p:spPr>
          <a:xfrm>
            <a:off x="2216564" y="3770882"/>
            <a:ext cx="949918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solidFill>
                  <a:srgbClr val="8BE5EA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Используется для ускорения улучшений, покупки усилений, более мощного оружия и брони, новых скинов – </a:t>
            </a:r>
            <a:r>
              <a:rPr lang="ru-RU" sz="1800" dirty="0">
                <a:solidFill>
                  <a:srgbClr val="E34D1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покупается за реальные деньги</a:t>
            </a:r>
            <a:r>
              <a:rPr lang="ru-RU" sz="1800" dirty="0">
                <a:solidFill>
                  <a:srgbClr val="8BE5EA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, но </a:t>
            </a:r>
            <a:r>
              <a:rPr lang="ru-RU" sz="1800" dirty="0">
                <a:solidFill>
                  <a:srgbClr val="E34D1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изредка выпадает из боссов</a:t>
            </a:r>
            <a:endParaRPr lang="ru-RU" dirty="0">
              <a:solidFill>
                <a:srgbClr val="E34D1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1B6F156-15E5-4405-8B0C-DE59AF773FCF}"/>
              </a:ext>
            </a:extLst>
          </p:cNvPr>
          <p:cNvSpPr txBox="1"/>
          <p:nvPr/>
        </p:nvSpPr>
        <p:spPr>
          <a:xfrm>
            <a:off x="2243958" y="228241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solidFill>
                  <a:srgbClr val="8BE5EA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…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075211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1FB1D22-C0A4-4FE0-B47B-9BCCAC5DEB1D}"/>
              </a:ext>
            </a:extLst>
          </p:cNvPr>
          <p:cNvSpPr txBox="1"/>
          <p:nvPr/>
        </p:nvSpPr>
        <p:spPr>
          <a:xfrm>
            <a:off x="218975" y="185907"/>
            <a:ext cx="609760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solidFill>
                  <a:srgbClr val="E34D1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РАЗРАБОТКА</a:t>
            </a:r>
            <a:endParaRPr lang="ru-RU" sz="2800" dirty="0"/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173DACA7-377E-46A6-B91E-0A46E2803DF7}"/>
              </a:ext>
            </a:extLst>
          </p:cNvPr>
          <p:cNvCxnSpPr>
            <a:cxnSpLocks/>
          </p:cNvCxnSpPr>
          <p:nvPr/>
        </p:nvCxnSpPr>
        <p:spPr>
          <a:xfrm>
            <a:off x="218975" y="709127"/>
            <a:ext cx="2206591" cy="0"/>
          </a:xfrm>
          <a:prstGeom prst="line">
            <a:avLst/>
          </a:prstGeom>
          <a:ln w="57150">
            <a:solidFill>
              <a:srgbClr val="8BE5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6818C9F-4ABE-40F3-AE71-1B32B5308BB0}"/>
              </a:ext>
            </a:extLst>
          </p:cNvPr>
          <p:cNvSpPr txBox="1"/>
          <p:nvPr/>
        </p:nvSpPr>
        <p:spPr>
          <a:xfrm>
            <a:off x="218974" y="1321687"/>
            <a:ext cx="823200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solidFill>
                  <a:srgbClr val="E34D1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Игра разрабатывается на игровом движке </a:t>
            </a:r>
            <a:r>
              <a:rPr lang="en-US" sz="2400" dirty="0">
                <a:solidFill>
                  <a:schemeClr val="bg1"/>
                </a:solidFill>
                <a:latin typeface="Cascadia Mono SemiBold" panose="020B0609020000020004" pitchFamily="49" charset="0"/>
                <a:cs typeface="Cascadia Mono SemiBold" panose="020B0609020000020004" pitchFamily="49" charset="0"/>
              </a:rPr>
              <a:t>Unity</a:t>
            </a:r>
            <a:endParaRPr lang="ru-RU" sz="2400" dirty="0">
              <a:solidFill>
                <a:schemeClr val="bg1"/>
              </a:solidFill>
              <a:latin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87E3AA7-942A-451E-9D65-A07B7387D754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714072" y="974143"/>
            <a:ext cx="2921417" cy="117854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A9FA470-A4B4-41E0-BB60-27D8E6F66F14}"/>
              </a:ext>
            </a:extLst>
          </p:cNvPr>
          <p:cNvSpPr txBox="1"/>
          <p:nvPr/>
        </p:nvSpPr>
        <p:spPr>
          <a:xfrm>
            <a:off x="218974" y="1930871"/>
            <a:ext cx="60976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solidFill>
                  <a:srgbClr val="E34D1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Стиль рисовки – </a:t>
            </a:r>
            <a:r>
              <a:rPr lang="en-US" sz="2400" dirty="0">
                <a:solidFill>
                  <a:schemeClr val="bg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Pixel Art</a:t>
            </a:r>
            <a:endParaRPr lang="ru-RU" sz="2400" dirty="0">
              <a:solidFill>
                <a:schemeClr val="bg1"/>
              </a:solidFill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456F9084-24C3-4D21-A7B4-CA8407B829EF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E6E6E6"/>
              </a:clrFrom>
              <a:clrTo>
                <a:srgbClr val="E6E6E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77598" y="3267776"/>
            <a:ext cx="3664929" cy="1467276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2DB63E1B-9C42-4256-9289-20FFB91523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8562" y="3554128"/>
            <a:ext cx="5506218" cy="695422"/>
          </a:xfrm>
          <a:prstGeom prst="rect">
            <a:avLst/>
          </a:prstGeom>
        </p:spPr>
      </p:pic>
      <p:sp>
        <p:nvSpPr>
          <p:cNvPr id="15" name="Стрелка: вниз 14">
            <a:extLst>
              <a:ext uri="{FF2B5EF4-FFF2-40B4-BE49-F238E27FC236}">
                <a16:creationId xmlns:a16="http://schemas.microsoft.com/office/drawing/2014/main" id="{D84B0089-D7DC-4F4C-97C4-0497A7096FD0}"/>
              </a:ext>
            </a:extLst>
          </p:cNvPr>
          <p:cNvSpPr/>
          <p:nvPr/>
        </p:nvSpPr>
        <p:spPr>
          <a:xfrm>
            <a:off x="2425566" y="2476756"/>
            <a:ext cx="423512" cy="706799"/>
          </a:xfrm>
          <a:prstGeom prst="downArrow">
            <a:avLst/>
          </a:prstGeom>
          <a:noFill/>
          <a:ln w="28575">
            <a:solidFill>
              <a:srgbClr val="8BE5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Стрелка: вниз 15">
            <a:extLst>
              <a:ext uri="{FF2B5EF4-FFF2-40B4-BE49-F238E27FC236}">
                <a16:creationId xmlns:a16="http://schemas.microsoft.com/office/drawing/2014/main" id="{C129177B-1136-4E7A-A0DF-417F5A151AA9}"/>
              </a:ext>
            </a:extLst>
          </p:cNvPr>
          <p:cNvSpPr/>
          <p:nvPr/>
        </p:nvSpPr>
        <p:spPr>
          <a:xfrm rot="18802126">
            <a:off x="5111015" y="2500007"/>
            <a:ext cx="423512" cy="706799"/>
          </a:xfrm>
          <a:prstGeom prst="downArrow">
            <a:avLst/>
          </a:prstGeom>
          <a:noFill/>
          <a:ln w="28575">
            <a:solidFill>
              <a:srgbClr val="8BE5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51850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1FB1D22-C0A4-4FE0-B47B-9BCCAC5DEB1D}"/>
              </a:ext>
            </a:extLst>
          </p:cNvPr>
          <p:cNvSpPr txBox="1"/>
          <p:nvPr/>
        </p:nvSpPr>
        <p:spPr>
          <a:xfrm>
            <a:off x="218975" y="185907"/>
            <a:ext cx="609760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solidFill>
                  <a:srgbClr val="E34D1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РАЗРАБОТКА</a:t>
            </a:r>
            <a:endParaRPr lang="ru-RU" sz="2800" dirty="0"/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173DACA7-377E-46A6-B91E-0A46E2803DF7}"/>
              </a:ext>
            </a:extLst>
          </p:cNvPr>
          <p:cNvCxnSpPr>
            <a:cxnSpLocks/>
          </p:cNvCxnSpPr>
          <p:nvPr/>
        </p:nvCxnSpPr>
        <p:spPr>
          <a:xfrm>
            <a:off x="218975" y="709127"/>
            <a:ext cx="2206591" cy="0"/>
          </a:xfrm>
          <a:prstGeom prst="line">
            <a:avLst/>
          </a:prstGeom>
          <a:ln w="57150">
            <a:solidFill>
              <a:srgbClr val="8BE5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331AF4C-F9F9-4A05-8818-87A3C3B999CB}"/>
              </a:ext>
            </a:extLst>
          </p:cNvPr>
          <p:cNvSpPr txBox="1"/>
          <p:nvPr/>
        </p:nvSpPr>
        <p:spPr>
          <a:xfrm>
            <a:off x="335516" y="1056945"/>
            <a:ext cx="11237920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dirty="0">
                <a:solidFill>
                  <a:srgbClr val="8BE5EA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Суммарное время на разработку (ориентировочно) – </a:t>
            </a:r>
            <a:r>
              <a:rPr lang="ru-RU" sz="2400" dirty="0">
                <a:solidFill>
                  <a:srgbClr val="E34D1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250 часов</a:t>
            </a:r>
          </a:p>
          <a:p>
            <a:pPr>
              <a:lnSpc>
                <a:spcPct val="150000"/>
              </a:lnSpc>
            </a:pPr>
            <a:r>
              <a:rPr lang="ru-RU" sz="2400" dirty="0">
                <a:solidFill>
                  <a:srgbClr val="8BE5EA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В том числе:</a:t>
            </a:r>
          </a:p>
          <a:p>
            <a:pPr>
              <a:lnSpc>
                <a:spcPct val="150000"/>
              </a:lnSpc>
            </a:pPr>
            <a:r>
              <a:rPr lang="ru-RU" sz="2400" dirty="0">
                <a:solidFill>
                  <a:srgbClr val="8BE5EA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Работа с графикой </a:t>
            </a:r>
            <a:r>
              <a:rPr lang="ru-RU" sz="2400" b="1" i="0" dirty="0">
                <a:solidFill>
                  <a:srgbClr val="8BE5EA"/>
                </a:solidFill>
                <a:effectLst/>
                <a:latin typeface="YS Text"/>
              </a:rPr>
              <a:t>≈ </a:t>
            </a:r>
            <a:r>
              <a:rPr lang="ru-RU" sz="2400" b="1" i="0" dirty="0">
                <a:solidFill>
                  <a:srgbClr val="E34D10"/>
                </a:solidFill>
                <a:effectLst/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30</a:t>
            </a:r>
            <a:r>
              <a:rPr lang="ru-RU" sz="2400" b="1" i="0" dirty="0">
                <a:solidFill>
                  <a:srgbClr val="E34D10"/>
                </a:solidFill>
                <a:effectLst/>
                <a:latin typeface="YS Text"/>
              </a:rPr>
              <a:t> часов</a:t>
            </a:r>
          </a:p>
          <a:p>
            <a:pPr>
              <a:lnSpc>
                <a:spcPct val="150000"/>
              </a:lnSpc>
            </a:pPr>
            <a:r>
              <a:rPr lang="ru-RU" sz="2400" dirty="0">
                <a:solidFill>
                  <a:srgbClr val="8BE5EA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Разработка скриптов </a:t>
            </a:r>
            <a:r>
              <a:rPr lang="ru-RU" sz="2400" b="1" i="0" dirty="0">
                <a:solidFill>
                  <a:srgbClr val="8BE5EA"/>
                </a:solidFill>
                <a:effectLst/>
                <a:latin typeface="YS Text"/>
              </a:rPr>
              <a:t>≈ </a:t>
            </a:r>
            <a:r>
              <a:rPr lang="ru-RU" sz="2400" b="1" i="0" dirty="0">
                <a:solidFill>
                  <a:srgbClr val="E34D10"/>
                </a:solidFill>
                <a:effectLst/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200</a:t>
            </a:r>
            <a:r>
              <a:rPr lang="ru-RU" sz="2400" b="1" i="0" dirty="0">
                <a:solidFill>
                  <a:srgbClr val="E34D10"/>
                </a:solidFill>
                <a:effectLst/>
                <a:latin typeface="YS Text"/>
              </a:rPr>
              <a:t> часов</a:t>
            </a:r>
          </a:p>
          <a:p>
            <a:pPr>
              <a:lnSpc>
                <a:spcPct val="150000"/>
              </a:lnSpc>
            </a:pPr>
            <a:r>
              <a:rPr lang="ru-RU" sz="2400" b="1" dirty="0">
                <a:solidFill>
                  <a:srgbClr val="8BE5EA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Тестирование и исправление ошибок</a:t>
            </a:r>
            <a:r>
              <a:rPr lang="ru-RU" sz="2400" b="1" i="0" dirty="0">
                <a:solidFill>
                  <a:srgbClr val="8BE5EA"/>
                </a:solidFill>
                <a:effectLst/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≈ </a:t>
            </a:r>
            <a:r>
              <a:rPr lang="ru-RU" sz="2400" b="1" i="0" dirty="0">
                <a:solidFill>
                  <a:srgbClr val="E34D10"/>
                </a:solidFill>
                <a:effectLst/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20 часов</a:t>
            </a:r>
            <a:endParaRPr lang="ru-RU" sz="2400" b="1" dirty="0">
              <a:solidFill>
                <a:srgbClr val="E34D10"/>
              </a:solidFill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endParaRPr lang="ru-RU" sz="2400" b="1" dirty="0">
              <a:solidFill>
                <a:srgbClr val="8BE5EA"/>
              </a:solidFill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endParaRPr lang="ru-RU" sz="2400" dirty="0">
              <a:solidFill>
                <a:srgbClr val="E34D1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44711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1FB1D22-C0A4-4FE0-B47B-9BCCAC5DEB1D}"/>
              </a:ext>
            </a:extLst>
          </p:cNvPr>
          <p:cNvSpPr txBox="1"/>
          <p:nvPr/>
        </p:nvSpPr>
        <p:spPr>
          <a:xfrm>
            <a:off x="218975" y="185907"/>
            <a:ext cx="609760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solidFill>
                  <a:srgbClr val="E34D1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ДОРОЖНАЯ КАРТА РАЗРАБОТКИ</a:t>
            </a:r>
            <a:endParaRPr lang="ru-RU" sz="2800" dirty="0"/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173DACA7-377E-46A6-B91E-0A46E2803DF7}"/>
              </a:ext>
            </a:extLst>
          </p:cNvPr>
          <p:cNvCxnSpPr>
            <a:cxnSpLocks/>
          </p:cNvCxnSpPr>
          <p:nvPr/>
        </p:nvCxnSpPr>
        <p:spPr>
          <a:xfrm>
            <a:off x="218975" y="709127"/>
            <a:ext cx="5285354" cy="0"/>
          </a:xfrm>
          <a:prstGeom prst="line">
            <a:avLst/>
          </a:prstGeom>
          <a:ln w="57150">
            <a:solidFill>
              <a:srgbClr val="8BE5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7CC6AB2-0617-4DA6-83AE-E12A8014EC40}"/>
              </a:ext>
            </a:extLst>
          </p:cNvPr>
          <p:cNvSpPr txBox="1"/>
          <p:nvPr/>
        </p:nvSpPr>
        <p:spPr>
          <a:xfrm>
            <a:off x="824753" y="135688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rgbClr val="8BE5EA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Разработка концепции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rgbClr val="8BE5EA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Выбор инструментария разработки</a:t>
            </a:r>
            <a:endParaRPr lang="ru-RU" dirty="0"/>
          </a:p>
        </p:txBody>
      </p:sp>
      <p:sp>
        <p:nvSpPr>
          <p:cNvPr id="5" name="Стрелка: вниз 4">
            <a:extLst>
              <a:ext uri="{FF2B5EF4-FFF2-40B4-BE49-F238E27FC236}">
                <a16:creationId xmlns:a16="http://schemas.microsoft.com/office/drawing/2014/main" id="{9A3D4FD3-E1D2-43B6-A498-F8008D693D87}"/>
              </a:ext>
            </a:extLst>
          </p:cNvPr>
          <p:cNvSpPr/>
          <p:nvPr/>
        </p:nvSpPr>
        <p:spPr>
          <a:xfrm>
            <a:off x="3084142" y="2118535"/>
            <a:ext cx="667729" cy="815789"/>
          </a:xfrm>
          <a:prstGeom prst="downArrow">
            <a:avLst/>
          </a:prstGeom>
          <a:noFill/>
          <a:ln w="19050">
            <a:solidFill>
              <a:srgbClr val="8BE5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3C2A29-AE34-4C8A-9D8D-99D9DC8C3F75}"/>
              </a:ext>
            </a:extLst>
          </p:cNvPr>
          <p:cNvSpPr txBox="1"/>
          <p:nvPr/>
        </p:nvSpPr>
        <p:spPr>
          <a:xfrm>
            <a:off x="824753" y="3062795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rgbClr val="8BE5EA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Разработка дизайна локаций и врагов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rgbClr val="8BE5EA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Звуковой дизайн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8BE5EA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Разработка ИИ врагов и алгоритмов процедурной генерации уровней</a:t>
            </a:r>
            <a:endParaRPr lang="ru-RU" sz="1800" dirty="0">
              <a:solidFill>
                <a:srgbClr val="8BE5EA"/>
              </a:solidFill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BF0788-1E40-4711-9EEF-39743E4A114B}"/>
              </a:ext>
            </a:extLst>
          </p:cNvPr>
          <p:cNvSpPr txBox="1"/>
          <p:nvPr/>
        </p:nvSpPr>
        <p:spPr>
          <a:xfrm>
            <a:off x="4471017" y="5410209"/>
            <a:ext cx="6096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8BE5EA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Альфа-версия проекта </a:t>
            </a:r>
          </a:p>
          <a:p>
            <a:r>
              <a:rPr lang="ru-RU" dirty="0">
                <a:solidFill>
                  <a:srgbClr val="8BE5EA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	</a:t>
            </a:r>
            <a:r>
              <a:rPr lang="ru-RU" sz="2400" dirty="0">
                <a:solidFill>
                  <a:srgbClr val="E34D1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МЫ ЗДЕСЬ!</a:t>
            </a:r>
            <a:endParaRPr lang="ru-RU" dirty="0">
              <a:solidFill>
                <a:srgbClr val="E34D1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0" name="Стрелка: вниз 9">
            <a:extLst>
              <a:ext uri="{FF2B5EF4-FFF2-40B4-BE49-F238E27FC236}">
                <a16:creationId xmlns:a16="http://schemas.microsoft.com/office/drawing/2014/main" id="{9784BEA6-3A65-4A5C-92A6-B6203619E12F}"/>
              </a:ext>
            </a:extLst>
          </p:cNvPr>
          <p:cNvSpPr/>
          <p:nvPr/>
        </p:nvSpPr>
        <p:spPr>
          <a:xfrm rot="18722458">
            <a:off x="3944512" y="4481213"/>
            <a:ext cx="667729" cy="815789"/>
          </a:xfrm>
          <a:prstGeom prst="downArrow">
            <a:avLst/>
          </a:prstGeom>
          <a:noFill/>
          <a:ln w="19050">
            <a:solidFill>
              <a:srgbClr val="8BE5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Стрелка: вниз 11">
            <a:extLst>
              <a:ext uri="{FF2B5EF4-FFF2-40B4-BE49-F238E27FC236}">
                <a16:creationId xmlns:a16="http://schemas.microsoft.com/office/drawing/2014/main" id="{9B5A950D-CB5B-49CC-84AB-7353AD6BED21}"/>
              </a:ext>
            </a:extLst>
          </p:cNvPr>
          <p:cNvSpPr/>
          <p:nvPr/>
        </p:nvSpPr>
        <p:spPr>
          <a:xfrm rot="13515389">
            <a:off x="7709884" y="4567272"/>
            <a:ext cx="667729" cy="815789"/>
          </a:xfrm>
          <a:prstGeom prst="downArrow">
            <a:avLst/>
          </a:prstGeom>
          <a:noFill/>
          <a:ln w="19050">
            <a:solidFill>
              <a:srgbClr val="8BE5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29AFD03-F089-47F0-8637-543ABD34F1EA}"/>
              </a:ext>
            </a:extLst>
          </p:cNvPr>
          <p:cNvSpPr txBox="1"/>
          <p:nvPr/>
        </p:nvSpPr>
        <p:spPr>
          <a:xfrm>
            <a:off x="7731999" y="3314406"/>
            <a:ext cx="487679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8BE5EA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Внедрение новых фич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8BE5EA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Разработка более детальной внутриигровой экономики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8BE5EA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БЕТА-ВЕРСИЯ проекта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</p:txBody>
      </p:sp>
      <p:sp>
        <p:nvSpPr>
          <p:cNvPr id="15" name="Стрелка: вниз 14">
            <a:extLst>
              <a:ext uri="{FF2B5EF4-FFF2-40B4-BE49-F238E27FC236}">
                <a16:creationId xmlns:a16="http://schemas.microsoft.com/office/drawing/2014/main" id="{E734FF95-2DAD-4C35-9A5C-97B7721D7206}"/>
              </a:ext>
            </a:extLst>
          </p:cNvPr>
          <p:cNvSpPr/>
          <p:nvPr/>
        </p:nvSpPr>
        <p:spPr>
          <a:xfrm rot="10800000">
            <a:off x="9502670" y="2458275"/>
            <a:ext cx="667729" cy="815789"/>
          </a:xfrm>
          <a:prstGeom prst="downArrow">
            <a:avLst/>
          </a:prstGeom>
          <a:noFill/>
          <a:ln w="19050">
            <a:solidFill>
              <a:srgbClr val="8BE5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AE953B-57EB-485F-A626-72ED31808D74}"/>
              </a:ext>
            </a:extLst>
          </p:cNvPr>
          <p:cNvSpPr txBox="1"/>
          <p:nvPr/>
        </p:nvSpPr>
        <p:spPr>
          <a:xfrm>
            <a:off x="8730568" y="1356880"/>
            <a:ext cx="2131168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8BE5EA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Тестирование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ru-RU" sz="3200" dirty="0">
                <a:solidFill>
                  <a:srgbClr val="8BE5EA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РЕЛИЗ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35969687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1FB1D22-C0A4-4FE0-B47B-9BCCAC5DEB1D}"/>
              </a:ext>
            </a:extLst>
          </p:cNvPr>
          <p:cNvSpPr txBox="1"/>
          <p:nvPr/>
        </p:nvSpPr>
        <p:spPr>
          <a:xfrm>
            <a:off x="218975" y="185907"/>
            <a:ext cx="609760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solidFill>
                  <a:srgbClr val="E34D1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КОМАНДА ПРОЕКТА</a:t>
            </a:r>
            <a:endParaRPr lang="ru-RU" sz="2800" dirty="0"/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173DACA7-377E-46A6-B91E-0A46E2803DF7}"/>
              </a:ext>
            </a:extLst>
          </p:cNvPr>
          <p:cNvCxnSpPr>
            <a:cxnSpLocks/>
          </p:cNvCxnSpPr>
          <p:nvPr/>
        </p:nvCxnSpPr>
        <p:spPr>
          <a:xfrm>
            <a:off x="218975" y="709127"/>
            <a:ext cx="3246120" cy="0"/>
          </a:xfrm>
          <a:prstGeom prst="line">
            <a:avLst/>
          </a:prstGeom>
          <a:ln w="57150">
            <a:solidFill>
              <a:srgbClr val="8BE5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Google Shape;183;p33">
            <a:extLst>
              <a:ext uri="{FF2B5EF4-FFF2-40B4-BE49-F238E27FC236}">
                <a16:creationId xmlns:a16="http://schemas.microsoft.com/office/drawing/2014/main" id="{45A1079C-2936-4D93-82F4-1EC28ACDF717}"/>
              </a:ext>
            </a:extLst>
          </p:cNvPr>
          <p:cNvSpPr/>
          <p:nvPr/>
        </p:nvSpPr>
        <p:spPr>
          <a:xfrm>
            <a:off x="637040" y="1021885"/>
            <a:ext cx="1004931" cy="1002268"/>
          </a:xfrm>
          <a:custGeom>
            <a:avLst/>
            <a:gdLst/>
            <a:ahLst/>
            <a:cxnLst/>
            <a:rect l="l" t="t" r="r" b="b"/>
            <a:pathLst>
              <a:path w="12068" h="12036" extrusionOk="0">
                <a:moveTo>
                  <a:pt x="4222" y="630"/>
                </a:moveTo>
                <a:cubicBezTo>
                  <a:pt x="5010" y="630"/>
                  <a:pt x="5640" y="1292"/>
                  <a:pt x="5640" y="2048"/>
                </a:cubicBezTo>
                <a:lnTo>
                  <a:pt x="5640" y="9767"/>
                </a:lnTo>
                <a:cubicBezTo>
                  <a:pt x="5703" y="10617"/>
                  <a:pt x="5073" y="11311"/>
                  <a:pt x="4285" y="11311"/>
                </a:cubicBezTo>
                <a:cubicBezTo>
                  <a:pt x="3498" y="11311"/>
                  <a:pt x="2868" y="10680"/>
                  <a:pt x="2868" y="9893"/>
                </a:cubicBezTo>
                <a:lnTo>
                  <a:pt x="2868" y="9830"/>
                </a:lnTo>
                <a:cubicBezTo>
                  <a:pt x="3403" y="9767"/>
                  <a:pt x="3907" y="9515"/>
                  <a:pt x="4254" y="9137"/>
                </a:cubicBezTo>
                <a:cubicBezTo>
                  <a:pt x="4380" y="9011"/>
                  <a:pt x="4380" y="8790"/>
                  <a:pt x="4254" y="8633"/>
                </a:cubicBezTo>
                <a:cubicBezTo>
                  <a:pt x="4191" y="8570"/>
                  <a:pt x="4104" y="8538"/>
                  <a:pt x="4014" y="8538"/>
                </a:cubicBezTo>
                <a:cubicBezTo>
                  <a:pt x="3923" y="8538"/>
                  <a:pt x="3829" y="8570"/>
                  <a:pt x="3750" y="8633"/>
                </a:cubicBezTo>
                <a:cubicBezTo>
                  <a:pt x="3435" y="8948"/>
                  <a:pt x="2962" y="9137"/>
                  <a:pt x="2490" y="9137"/>
                </a:cubicBezTo>
                <a:cubicBezTo>
                  <a:pt x="1513" y="9137"/>
                  <a:pt x="725" y="8349"/>
                  <a:pt x="725" y="7372"/>
                </a:cubicBezTo>
                <a:cubicBezTo>
                  <a:pt x="725" y="7057"/>
                  <a:pt x="788" y="6742"/>
                  <a:pt x="946" y="6490"/>
                </a:cubicBezTo>
                <a:cubicBezTo>
                  <a:pt x="1387" y="6805"/>
                  <a:pt x="1891" y="6994"/>
                  <a:pt x="2490" y="6994"/>
                </a:cubicBezTo>
                <a:cubicBezTo>
                  <a:pt x="2679" y="6994"/>
                  <a:pt x="2836" y="6837"/>
                  <a:pt x="2836" y="6648"/>
                </a:cubicBezTo>
                <a:cubicBezTo>
                  <a:pt x="2836" y="6459"/>
                  <a:pt x="2679" y="6301"/>
                  <a:pt x="2490" y="6301"/>
                </a:cubicBezTo>
                <a:cubicBezTo>
                  <a:pt x="1513" y="6301"/>
                  <a:pt x="725" y="5514"/>
                  <a:pt x="725" y="4537"/>
                </a:cubicBezTo>
                <a:cubicBezTo>
                  <a:pt x="725" y="3623"/>
                  <a:pt x="1387" y="2899"/>
                  <a:pt x="2238" y="2804"/>
                </a:cubicBezTo>
                <a:cubicBezTo>
                  <a:pt x="2521" y="3623"/>
                  <a:pt x="3309" y="4159"/>
                  <a:pt x="4222" y="4159"/>
                </a:cubicBezTo>
                <a:cubicBezTo>
                  <a:pt x="4411" y="4159"/>
                  <a:pt x="4569" y="4001"/>
                  <a:pt x="4569" y="3812"/>
                </a:cubicBezTo>
                <a:cubicBezTo>
                  <a:pt x="4569" y="3623"/>
                  <a:pt x="4411" y="3466"/>
                  <a:pt x="4222" y="3466"/>
                </a:cubicBezTo>
                <a:cubicBezTo>
                  <a:pt x="3435" y="3466"/>
                  <a:pt x="2805" y="2836"/>
                  <a:pt x="2805" y="2048"/>
                </a:cubicBezTo>
                <a:cubicBezTo>
                  <a:pt x="2805" y="1261"/>
                  <a:pt x="3435" y="630"/>
                  <a:pt x="4222" y="630"/>
                </a:cubicBezTo>
                <a:close/>
                <a:moveTo>
                  <a:pt x="7814" y="788"/>
                </a:moveTo>
                <a:cubicBezTo>
                  <a:pt x="8602" y="788"/>
                  <a:pt x="9232" y="1418"/>
                  <a:pt x="9232" y="2206"/>
                </a:cubicBezTo>
                <a:cubicBezTo>
                  <a:pt x="9232" y="2993"/>
                  <a:pt x="8602" y="3623"/>
                  <a:pt x="7814" y="3623"/>
                </a:cubicBezTo>
                <a:cubicBezTo>
                  <a:pt x="7593" y="3623"/>
                  <a:pt x="7436" y="3781"/>
                  <a:pt x="7436" y="3970"/>
                </a:cubicBezTo>
                <a:cubicBezTo>
                  <a:pt x="7436" y="4159"/>
                  <a:pt x="7593" y="4316"/>
                  <a:pt x="7814" y="4316"/>
                </a:cubicBezTo>
                <a:cubicBezTo>
                  <a:pt x="8696" y="4316"/>
                  <a:pt x="9484" y="3749"/>
                  <a:pt x="9767" y="2962"/>
                </a:cubicBezTo>
                <a:cubicBezTo>
                  <a:pt x="10649" y="3056"/>
                  <a:pt x="11311" y="3812"/>
                  <a:pt x="11311" y="4695"/>
                </a:cubicBezTo>
                <a:cubicBezTo>
                  <a:pt x="11311" y="5671"/>
                  <a:pt x="10523" y="6459"/>
                  <a:pt x="9547" y="6459"/>
                </a:cubicBezTo>
                <a:cubicBezTo>
                  <a:pt x="9326" y="6459"/>
                  <a:pt x="9169" y="6616"/>
                  <a:pt x="9169" y="6805"/>
                </a:cubicBezTo>
                <a:cubicBezTo>
                  <a:pt x="9169" y="6994"/>
                  <a:pt x="9326" y="7152"/>
                  <a:pt x="9547" y="7152"/>
                </a:cubicBezTo>
                <a:cubicBezTo>
                  <a:pt x="10114" y="7152"/>
                  <a:pt x="10649" y="6963"/>
                  <a:pt x="11059" y="6648"/>
                </a:cubicBezTo>
                <a:cubicBezTo>
                  <a:pt x="11217" y="6931"/>
                  <a:pt x="11311" y="7215"/>
                  <a:pt x="11311" y="7530"/>
                </a:cubicBezTo>
                <a:cubicBezTo>
                  <a:pt x="11374" y="8381"/>
                  <a:pt x="10586" y="9168"/>
                  <a:pt x="9610" y="9168"/>
                </a:cubicBezTo>
                <a:cubicBezTo>
                  <a:pt x="9137" y="9168"/>
                  <a:pt x="8696" y="8979"/>
                  <a:pt x="8350" y="8664"/>
                </a:cubicBezTo>
                <a:cubicBezTo>
                  <a:pt x="8287" y="8601"/>
                  <a:pt x="8200" y="8570"/>
                  <a:pt x="8109" y="8570"/>
                </a:cubicBezTo>
                <a:cubicBezTo>
                  <a:pt x="8019" y="8570"/>
                  <a:pt x="7924" y="8601"/>
                  <a:pt x="7845" y="8664"/>
                </a:cubicBezTo>
                <a:cubicBezTo>
                  <a:pt x="7719" y="8790"/>
                  <a:pt x="7719" y="9011"/>
                  <a:pt x="7845" y="9168"/>
                </a:cubicBezTo>
                <a:cubicBezTo>
                  <a:pt x="8224" y="9578"/>
                  <a:pt x="8696" y="9798"/>
                  <a:pt x="9232" y="9893"/>
                </a:cubicBezTo>
                <a:lnTo>
                  <a:pt x="9232" y="9924"/>
                </a:lnTo>
                <a:cubicBezTo>
                  <a:pt x="9232" y="10712"/>
                  <a:pt x="8602" y="11342"/>
                  <a:pt x="7814" y="11342"/>
                </a:cubicBezTo>
                <a:cubicBezTo>
                  <a:pt x="7026" y="11342"/>
                  <a:pt x="6396" y="10680"/>
                  <a:pt x="6396" y="9924"/>
                </a:cubicBezTo>
                <a:lnTo>
                  <a:pt x="6396" y="2206"/>
                </a:lnTo>
                <a:cubicBezTo>
                  <a:pt x="6396" y="1418"/>
                  <a:pt x="7058" y="788"/>
                  <a:pt x="7814" y="788"/>
                </a:cubicBezTo>
                <a:close/>
                <a:moveTo>
                  <a:pt x="4254" y="0"/>
                </a:moveTo>
                <a:cubicBezTo>
                  <a:pt x="3088" y="0"/>
                  <a:pt x="2143" y="977"/>
                  <a:pt x="2143" y="2111"/>
                </a:cubicBezTo>
                <a:lnTo>
                  <a:pt x="2143" y="2174"/>
                </a:lnTo>
                <a:cubicBezTo>
                  <a:pt x="946" y="2332"/>
                  <a:pt x="1" y="3340"/>
                  <a:pt x="1" y="4600"/>
                </a:cubicBezTo>
                <a:cubicBezTo>
                  <a:pt x="1" y="5104"/>
                  <a:pt x="158" y="5640"/>
                  <a:pt x="442" y="6018"/>
                </a:cubicBezTo>
                <a:cubicBezTo>
                  <a:pt x="158" y="6427"/>
                  <a:pt x="1" y="6931"/>
                  <a:pt x="1" y="7435"/>
                </a:cubicBezTo>
                <a:cubicBezTo>
                  <a:pt x="1" y="8696"/>
                  <a:pt x="946" y="9735"/>
                  <a:pt x="2143" y="9861"/>
                </a:cubicBezTo>
                <a:lnTo>
                  <a:pt x="2143" y="9924"/>
                </a:lnTo>
                <a:cubicBezTo>
                  <a:pt x="2143" y="11090"/>
                  <a:pt x="3088" y="12035"/>
                  <a:pt x="4254" y="12035"/>
                </a:cubicBezTo>
                <a:cubicBezTo>
                  <a:pt x="5010" y="12035"/>
                  <a:pt x="5640" y="11657"/>
                  <a:pt x="6050" y="11058"/>
                </a:cubicBezTo>
                <a:cubicBezTo>
                  <a:pt x="6428" y="11657"/>
                  <a:pt x="7089" y="12035"/>
                  <a:pt x="7814" y="12035"/>
                </a:cubicBezTo>
                <a:cubicBezTo>
                  <a:pt x="8980" y="12035"/>
                  <a:pt x="9925" y="11058"/>
                  <a:pt x="9925" y="9924"/>
                </a:cubicBezTo>
                <a:lnTo>
                  <a:pt x="9925" y="9861"/>
                </a:lnTo>
                <a:cubicBezTo>
                  <a:pt x="11122" y="9704"/>
                  <a:pt x="12067" y="8696"/>
                  <a:pt x="12067" y="7435"/>
                </a:cubicBezTo>
                <a:cubicBezTo>
                  <a:pt x="12067" y="6931"/>
                  <a:pt x="11910" y="6459"/>
                  <a:pt x="11626" y="6018"/>
                </a:cubicBezTo>
                <a:cubicBezTo>
                  <a:pt x="11910" y="5577"/>
                  <a:pt x="12067" y="5104"/>
                  <a:pt x="12067" y="4600"/>
                </a:cubicBezTo>
                <a:cubicBezTo>
                  <a:pt x="12067" y="3371"/>
                  <a:pt x="11154" y="2363"/>
                  <a:pt x="9925" y="2174"/>
                </a:cubicBezTo>
                <a:lnTo>
                  <a:pt x="9925" y="2111"/>
                </a:lnTo>
                <a:cubicBezTo>
                  <a:pt x="9925" y="945"/>
                  <a:pt x="8980" y="0"/>
                  <a:pt x="7814" y="0"/>
                </a:cubicBezTo>
                <a:cubicBezTo>
                  <a:pt x="7089" y="0"/>
                  <a:pt x="6428" y="378"/>
                  <a:pt x="6050" y="977"/>
                </a:cubicBezTo>
                <a:cubicBezTo>
                  <a:pt x="5640" y="378"/>
                  <a:pt x="4979" y="0"/>
                  <a:pt x="4254" y="0"/>
                </a:cubicBezTo>
                <a:close/>
              </a:path>
            </a:pathLst>
          </a:custGeom>
          <a:solidFill>
            <a:srgbClr val="8BE5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8BE5EA"/>
              </a:solidFill>
            </a:endParaRPr>
          </a:p>
        </p:txBody>
      </p:sp>
      <p:grpSp>
        <p:nvGrpSpPr>
          <p:cNvPr id="7" name="Google Shape;192;p33">
            <a:extLst>
              <a:ext uri="{FF2B5EF4-FFF2-40B4-BE49-F238E27FC236}">
                <a16:creationId xmlns:a16="http://schemas.microsoft.com/office/drawing/2014/main" id="{4E055A30-4A2C-4C56-801F-29B149767509}"/>
              </a:ext>
            </a:extLst>
          </p:cNvPr>
          <p:cNvGrpSpPr/>
          <p:nvPr/>
        </p:nvGrpSpPr>
        <p:grpSpPr>
          <a:xfrm>
            <a:off x="637040" y="2476310"/>
            <a:ext cx="1004931" cy="1151933"/>
            <a:chOff x="-49398750" y="2684600"/>
            <a:chExt cx="263875" cy="302475"/>
          </a:xfrm>
          <a:solidFill>
            <a:srgbClr val="8BE5EA"/>
          </a:solidFill>
        </p:grpSpPr>
        <p:sp>
          <p:nvSpPr>
            <p:cNvPr id="8" name="Google Shape;193;p33">
              <a:extLst>
                <a:ext uri="{FF2B5EF4-FFF2-40B4-BE49-F238E27FC236}">
                  <a16:creationId xmlns:a16="http://schemas.microsoft.com/office/drawing/2014/main" id="{9E77BC15-20D3-47A0-8622-FC69B3811D95}"/>
                </a:ext>
              </a:extLst>
            </p:cNvPr>
            <p:cNvSpPr/>
            <p:nvPr/>
          </p:nvSpPr>
          <p:spPr>
            <a:xfrm>
              <a:off x="-49294775" y="2684600"/>
              <a:ext cx="73275" cy="299325"/>
            </a:xfrm>
            <a:custGeom>
              <a:avLst/>
              <a:gdLst/>
              <a:ahLst/>
              <a:cxnLst/>
              <a:rect l="l" t="t" r="r" b="b"/>
              <a:pathLst>
                <a:path w="2931" h="11973" extrusionOk="0">
                  <a:moveTo>
                    <a:pt x="1481" y="1387"/>
                  </a:moveTo>
                  <a:lnTo>
                    <a:pt x="2017" y="2836"/>
                  </a:lnTo>
                  <a:lnTo>
                    <a:pt x="914" y="2836"/>
                  </a:lnTo>
                  <a:lnTo>
                    <a:pt x="1481" y="1387"/>
                  </a:lnTo>
                  <a:close/>
                  <a:moveTo>
                    <a:pt x="2174" y="3529"/>
                  </a:moveTo>
                  <a:lnTo>
                    <a:pt x="2174" y="9893"/>
                  </a:lnTo>
                  <a:lnTo>
                    <a:pt x="757" y="9893"/>
                  </a:lnTo>
                  <a:lnTo>
                    <a:pt x="757" y="3529"/>
                  </a:lnTo>
                  <a:close/>
                  <a:moveTo>
                    <a:pt x="2174" y="10586"/>
                  </a:moveTo>
                  <a:lnTo>
                    <a:pt x="2174" y="10964"/>
                  </a:lnTo>
                  <a:cubicBezTo>
                    <a:pt x="2143" y="11153"/>
                    <a:pt x="1985" y="11311"/>
                    <a:pt x="1828" y="11311"/>
                  </a:cubicBezTo>
                  <a:lnTo>
                    <a:pt x="1103" y="11311"/>
                  </a:lnTo>
                  <a:cubicBezTo>
                    <a:pt x="914" y="11311"/>
                    <a:pt x="757" y="11153"/>
                    <a:pt x="757" y="10964"/>
                  </a:cubicBezTo>
                  <a:lnTo>
                    <a:pt x="757" y="10586"/>
                  </a:lnTo>
                  <a:close/>
                  <a:moveTo>
                    <a:pt x="1450" y="1"/>
                  </a:moveTo>
                  <a:cubicBezTo>
                    <a:pt x="1355" y="1"/>
                    <a:pt x="1198" y="95"/>
                    <a:pt x="1135" y="253"/>
                  </a:cubicBezTo>
                  <a:cubicBezTo>
                    <a:pt x="1" y="3246"/>
                    <a:pt x="95" y="3088"/>
                    <a:pt x="95" y="3151"/>
                  </a:cubicBezTo>
                  <a:lnTo>
                    <a:pt x="95" y="10933"/>
                  </a:lnTo>
                  <a:cubicBezTo>
                    <a:pt x="95" y="11500"/>
                    <a:pt x="568" y="11973"/>
                    <a:pt x="1135" y="11973"/>
                  </a:cubicBezTo>
                  <a:lnTo>
                    <a:pt x="1859" y="11973"/>
                  </a:lnTo>
                  <a:cubicBezTo>
                    <a:pt x="2458" y="11973"/>
                    <a:pt x="2931" y="11500"/>
                    <a:pt x="2931" y="10933"/>
                  </a:cubicBezTo>
                  <a:lnTo>
                    <a:pt x="2931" y="3120"/>
                  </a:lnTo>
                  <a:cubicBezTo>
                    <a:pt x="2836" y="3088"/>
                    <a:pt x="2931" y="3277"/>
                    <a:pt x="1765" y="253"/>
                  </a:cubicBezTo>
                  <a:cubicBezTo>
                    <a:pt x="1733" y="127"/>
                    <a:pt x="1576" y="1"/>
                    <a:pt x="14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94;p33">
              <a:extLst>
                <a:ext uri="{FF2B5EF4-FFF2-40B4-BE49-F238E27FC236}">
                  <a16:creationId xmlns:a16="http://schemas.microsoft.com/office/drawing/2014/main" id="{585685BB-1FE2-4913-8A39-7FD27B27EA2E}"/>
                </a:ext>
              </a:extLst>
            </p:cNvPr>
            <p:cNvSpPr/>
            <p:nvPr/>
          </p:nvSpPr>
          <p:spPr>
            <a:xfrm>
              <a:off x="-49398750" y="2684600"/>
              <a:ext cx="87450" cy="300900"/>
            </a:xfrm>
            <a:custGeom>
              <a:avLst/>
              <a:gdLst/>
              <a:ahLst/>
              <a:cxnLst/>
              <a:rect l="l" t="t" r="r" b="b"/>
              <a:pathLst>
                <a:path w="3498" h="12036" extrusionOk="0">
                  <a:moveTo>
                    <a:pt x="2773" y="662"/>
                  </a:moveTo>
                  <a:lnTo>
                    <a:pt x="2773" y="11311"/>
                  </a:lnTo>
                  <a:lnTo>
                    <a:pt x="662" y="11311"/>
                  </a:lnTo>
                  <a:lnTo>
                    <a:pt x="662" y="10586"/>
                  </a:lnTo>
                  <a:lnTo>
                    <a:pt x="1734" y="10586"/>
                  </a:lnTo>
                  <a:cubicBezTo>
                    <a:pt x="1923" y="10586"/>
                    <a:pt x="2080" y="10429"/>
                    <a:pt x="2080" y="10240"/>
                  </a:cubicBezTo>
                  <a:cubicBezTo>
                    <a:pt x="2080" y="10051"/>
                    <a:pt x="1923" y="9893"/>
                    <a:pt x="1734" y="9893"/>
                  </a:cubicBezTo>
                  <a:lnTo>
                    <a:pt x="662" y="9893"/>
                  </a:lnTo>
                  <a:lnTo>
                    <a:pt x="662" y="9169"/>
                  </a:lnTo>
                  <a:lnTo>
                    <a:pt x="1009" y="9169"/>
                  </a:lnTo>
                  <a:cubicBezTo>
                    <a:pt x="1198" y="9169"/>
                    <a:pt x="1356" y="9011"/>
                    <a:pt x="1356" y="8822"/>
                  </a:cubicBezTo>
                  <a:cubicBezTo>
                    <a:pt x="1356" y="8633"/>
                    <a:pt x="1198" y="8475"/>
                    <a:pt x="1009" y="8475"/>
                  </a:cubicBezTo>
                  <a:lnTo>
                    <a:pt x="662" y="8475"/>
                  </a:lnTo>
                  <a:lnTo>
                    <a:pt x="662" y="7751"/>
                  </a:lnTo>
                  <a:lnTo>
                    <a:pt x="1734" y="7751"/>
                  </a:lnTo>
                  <a:cubicBezTo>
                    <a:pt x="1923" y="7751"/>
                    <a:pt x="2080" y="7593"/>
                    <a:pt x="2080" y="7404"/>
                  </a:cubicBezTo>
                  <a:cubicBezTo>
                    <a:pt x="2080" y="7215"/>
                    <a:pt x="1923" y="7058"/>
                    <a:pt x="1734" y="7058"/>
                  </a:cubicBezTo>
                  <a:lnTo>
                    <a:pt x="662" y="7058"/>
                  </a:lnTo>
                  <a:lnTo>
                    <a:pt x="662" y="6333"/>
                  </a:lnTo>
                  <a:lnTo>
                    <a:pt x="1009" y="6333"/>
                  </a:lnTo>
                  <a:cubicBezTo>
                    <a:pt x="1198" y="6333"/>
                    <a:pt x="1356" y="6176"/>
                    <a:pt x="1356" y="5987"/>
                  </a:cubicBezTo>
                  <a:cubicBezTo>
                    <a:pt x="1356" y="5798"/>
                    <a:pt x="1198" y="5640"/>
                    <a:pt x="1009" y="5640"/>
                  </a:cubicBezTo>
                  <a:lnTo>
                    <a:pt x="662" y="5640"/>
                  </a:lnTo>
                  <a:lnTo>
                    <a:pt x="662" y="4947"/>
                  </a:lnTo>
                  <a:lnTo>
                    <a:pt x="1734" y="4947"/>
                  </a:lnTo>
                  <a:cubicBezTo>
                    <a:pt x="1923" y="4947"/>
                    <a:pt x="2080" y="4789"/>
                    <a:pt x="2080" y="4569"/>
                  </a:cubicBezTo>
                  <a:cubicBezTo>
                    <a:pt x="2080" y="4380"/>
                    <a:pt x="1923" y="4222"/>
                    <a:pt x="1734" y="4222"/>
                  </a:cubicBezTo>
                  <a:lnTo>
                    <a:pt x="662" y="4222"/>
                  </a:lnTo>
                  <a:lnTo>
                    <a:pt x="662" y="3498"/>
                  </a:lnTo>
                  <a:lnTo>
                    <a:pt x="1009" y="3498"/>
                  </a:lnTo>
                  <a:cubicBezTo>
                    <a:pt x="1198" y="3498"/>
                    <a:pt x="1356" y="3340"/>
                    <a:pt x="1356" y="3151"/>
                  </a:cubicBezTo>
                  <a:cubicBezTo>
                    <a:pt x="1356" y="2962"/>
                    <a:pt x="1198" y="2805"/>
                    <a:pt x="1009" y="2805"/>
                  </a:cubicBezTo>
                  <a:lnTo>
                    <a:pt x="662" y="2805"/>
                  </a:lnTo>
                  <a:lnTo>
                    <a:pt x="662" y="2080"/>
                  </a:lnTo>
                  <a:lnTo>
                    <a:pt x="1734" y="2080"/>
                  </a:lnTo>
                  <a:cubicBezTo>
                    <a:pt x="1923" y="2080"/>
                    <a:pt x="2080" y="1922"/>
                    <a:pt x="2080" y="1733"/>
                  </a:cubicBezTo>
                  <a:cubicBezTo>
                    <a:pt x="2080" y="1544"/>
                    <a:pt x="1923" y="1387"/>
                    <a:pt x="1734" y="1387"/>
                  </a:cubicBezTo>
                  <a:lnTo>
                    <a:pt x="662" y="1387"/>
                  </a:lnTo>
                  <a:lnTo>
                    <a:pt x="662" y="662"/>
                  </a:lnTo>
                  <a:close/>
                  <a:moveTo>
                    <a:pt x="347" y="1"/>
                  </a:moveTo>
                  <a:cubicBezTo>
                    <a:pt x="158" y="1"/>
                    <a:pt x="1" y="158"/>
                    <a:pt x="1" y="379"/>
                  </a:cubicBezTo>
                  <a:lnTo>
                    <a:pt x="1" y="11657"/>
                  </a:lnTo>
                  <a:cubicBezTo>
                    <a:pt x="1" y="11878"/>
                    <a:pt x="158" y="12036"/>
                    <a:pt x="347" y="12036"/>
                  </a:cubicBezTo>
                  <a:lnTo>
                    <a:pt x="3151" y="12036"/>
                  </a:lnTo>
                  <a:cubicBezTo>
                    <a:pt x="3340" y="12036"/>
                    <a:pt x="3498" y="11878"/>
                    <a:pt x="3498" y="11657"/>
                  </a:cubicBezTo>
                  <a:lnTo>
                    <a:pt x="3498" y="379"/>
                  </a:lnTo>
                  <a:cubicBezTo>
                    <a:pt x="3498" y="158"/>
                    <a:pt x="3340" y="1"/>
                    <a:pt x="315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95;p33">
              <a:extLst>
                <a:ext uri="{FF2B5EF4-FFF2-40B4-BE49-F238E27FC236}">
                  <a16:creationId xmlns:a16="http://schemas.microsoft.com/office/drawing/2014/main" id="{36AF722F-82A4-42AF-82C6-15284B01C1F1}"/>
                </a:ext>
              </a:extLst>
            </p:cNvPr>
            <p:cNvSpPr/>
            <p:nvPr/>
          </p:nvSpPr>
          <p:spPr>
            <a:xfrm>
              <a:off x="-49207350" y="2686175"/>
              <a:ext cx="72475" cy="300900"/>
            </a:xfrm>
            <a:custGeom>
              <a:avLst/>
              <a:gdLst/>
              <a:ahLst/>
              <a:cxnLst/>
              <a:rect l="l" t="t" r="r" b="b"/>
              <a:pathLst>
                <a:path w="2899" h="12036" extrusionOk="0">
                  <a:moveTo>
                    <a:pt x="1859" y="694"/>
                  </a:moveTo>
                  <a:lnTo>
                    <a:pt x="1859" y="694"/>
                  </a:lnTo>
                  <a:cubicBezTo>
                    <a:pt x="1828" y="820"/>
                    <a:pt x="1796" y="946"/>
                    <a:pt x="1796" y="1040"/>
                  </a:cubicBezTo>
                  <a:cubicBezTo>
                    <a:pt x="1733" y="1418"/>
                    <a:pt x="1828" y="1765"/>
                    <a:pt x="2111" y="2112"/>
                  </a:cubicBezTo>
                  <a:cubicBezTo>
                    <a:pt x="2143" y="2143"/>
                    <a:pt x="2174" y="2238"/>
                    <a:pt x="2143" y="2301"/>
                  </a:cubicBezTo>
                  <a:cubicBezTo>
                    <a:pt x="2017" y="2584"/>
                    <a:pt x="1796" y="2773"/>
                    <a:pt x="1481" y="2773"/>
                  </a:cubicBezTo>
                  <a:cubicBezTo>
                    <a:pt x="1072" y="2773"/>
                    <a:pt x="757" y="2458"/>
                    <a:pt x="757" y="2080"/>
                  </a:cubicBezTo>
                  <a:cubicBezTo>
                    <a:pt x="757" y="1670"/>
                    <a:pt x="914" y="1324"/>
                    <a:pt x="1166" y="1103"/>
                  </a:cubicBezTo>
                  <a:cubicBezTo>
                    <a:pt x="1387" y="851"/>
                    <a:pt x="1576" y="788"/>
                    <a:pt x="1859" y="694"/>
                  </a:cubicBezTo>
                  <a:close/>
                  <a:moveTo>
                    <a:pt x="1450" y="3466"/>
                  </a:moveTo>
                  <a:cubicBezTo>
                    <a:pt x="1513" y="3529"/>
                    <a:pt x="1702" y="3781"/>
                    <a:pt x="1859" y="4600"/>
                  </a:cubicBezTo>
                  <a:cubicBezTo>
                    <a:pt x="1954" y="4726"/>
                    <a:pt x="1954" y="4789"/>
                    <a:pt x="1954" y="4884"/>
                  </a:cubicBezTo>
                  <a:lnTo>
                    <a:pt x="946" y="4884"/>
                  </a:lnTo>
                  <a:cubicBezTo>
                    <a:pt x="946" y="4789"/>
                    <a:pt x="1009" y="4726"/>
                    <a:pt x="1009" y="4600"/>
                  </a:cubicBezTo>
                  <a:cubicBezTo>
                    <a:pt x="1198" y="3781"/>
                    <a:pt x="1355" y="3529"/>
                    <a:pt x="1450" y="3466"/>
                  </a:cubicBezTo>
                  <a:close/>
                  <a:moveTo>
                    <a:pt x="2111" y="5546"/>
                  </a:moveTo>
                  <a:cubicBezTo>
                    <a:pt x="2174" y="6081"/>
                    <a:pt x="2237" y="6680"/>
                    <a:pt x="2237" y="7310"/>
                  </a:cubicBezTo>
                  <a:cubicBezTo>
                    <a:pt x="2174" y="9389"/>
                    <a:pt x="1796" y="10901"/>
                    <a:pt x="1481" y="11216"/>
                  </a:cubicBezTo>
                  <a:cubicBezTo>
                    <a:pt x="1387" y="11122"/>
                    <a:pt x="1198" y="10901"/>
                    <a:pt x="1040" y="10082"/>
                  </a:cubicBezTo>
                  <a:cubicBezTo>
                    <a:pt x="883" y="9326"/>
                    <a:pt x="757" y="8349"/>
                    <a:pt x="757" y="7310"/>
                  </a:cubicBezTo>
                  <a:cubicBezTo>
                    <a:pt x="757" y="6680"/>
                    <a:pt x="788" y="6081"/>
                    <a:pt x="883" y="5546"/>
                  </a:cubicBezTo>
                  <a:close/>
                  <a:moveTo>
                    <a:pt x="2489" y="1"/>
                  </a:moveTo>
                  <a:cubicBezTo>
                    <a:pt x="1796" y="1"/>
                    <a:pt x="1229" y="32"/>
                    <a:pt x="662" y="631"/>
                  </a:cubicBezTo>
                  <a:cubicBezTo>
                    <a:pt x="253" y="1009"/>
                    <a:pt x="1" y="1576"/>
                    <a:pt x="1" y="2112"/>
                  </a:cubicBezTo>
                  <a:cubicBezTo>
                    <a:pt x="1" y="2616"/>
                    <a:pt x="284" y="3088"/>
                    <a:pt x="725" y="3340"/>
                  </a:cubicBezTo>
                  <a:cubicBezTo>
                    <a:pt x="190" y="4285"/>
                    <a:pt x="1" y="6302"/>
                    <a:pt x="1" y="7436"/>
                  </a:cubicBezTo>
                  <a:cubicBezTo>
                    <a:pt x="1" y="8539"/>
                    <a:pt x="127" y="10555"/>
                    <a:pt x="725" y="11531"/>
                  </a:cubicBezTo>
                  <a:cubicBezTo>
                    <a:pt x="914" y="11878"/>
                    <a:pt x="1166" y="12036"/>
                    <a:pt x="1450" y="12036"/>
                  </a:cubicBezTo>
                  <a:cubicBezTo>
                    <a:pt x="1702" y="12036"/>
                    <a:pt x="1954" y="11878"/>
                    <a:pt x="2143" y="11531"/>
                  </a:cubicBezTo>
                  <a:cubicBezTo>
                    <a:pt x="2710" y="10586"/>
                    <a:pt x="2868" y="8570"/>
                    <a:pt x="2868" y="7436"/>
                  </a:cubicBezTo>
                  <a:cubicBezTo>
                    <a:pt x="2836" y="6239"/>
                    <a:pt x="2742" y="4254"/>
                    <a:pt x="2174" y="3309"/>
                  </a:cubicBezTo>
                  <a:cubicBezTo>
                    <a:pt x="2458" y="3151"/>
                    <a:pt x="2710" y="2868"/>
                    <a:pt x="2773" y="2553"/>
                  </a:cubicBezTo>
                  <a:cubicBezTo>
                    <a:pt x="2899" y="2238"/>
                    <a:pt x="2805" y="1923"/>
                    <a:pt x="2616" y="1670"/>
                  </a:cubicBezTo>
                  <a:cubicBezTo>
                    <a:pt x="2426" y="1450"/>
                    <a:pt x="2300" y="1135"/>
                    <a:pt x="2773" y="536"/>
                  </a:cubicBezTo>
                  <a:cubicBezTo>
                    <a:pt x="2836" y="410"/>
                    <a:pt x="2899" y="316"/>
                    <a:pt x="2805" y="190"/>
                  </a:cubicBezTo>
                  <a:cubicBezTo>
                    <a:pt x="2773" y="64"/>
                    <a:pt x="2616" y="1"/>
                    <a:pt x="24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" name="Google Shape;184;p33">
            <a:extLst>
              <a:ext uri="{FF2B5EF4-FFF2-40B4-BE49-F238E27FC236}">
                <a16:creationId xmlns:a16="http://schemas.microsoft.com/office/drawing/2014/main" id="{446D199F-E991-446D-B3A7-A2098E21A89F}"/>
              </a:ext>
            </a:extLst>
          </p:cNvPr>
          <p:cNvGrpSpPr/>
          <p:nvPr/>
        </p:nvGrpSpPr>
        <p:grpSpPr>
          <a:xfrm>
            <a:off x="637039" y="4291750"/>
            <a:ext cx="1004931" cy="1213900"/>
            <a:chOff x="-45998575" y="2702625"/>
            <a:chExt cx="229225" cy="298625"/>
          </a:xfrm>
          <a:solidFill>
            <a:srgbClr val="8BE5EA"/>
          </a:solidFill>
        </p:grpSpPr>
        <p:sp>
          <p:nvSpPr>
            <p:cNvPr id="12" name="Google Shape;185;p33">
              <a:extLst>
                <a:ext uri="{FF2B5EF4-FFF2-40B4-BE49-F238E27FC236}">
                  <a16:creationId xmlns:a16="http://schemas.microsoft.com/office/drawing/2014/main" id="{8E375142-0770-4E72-8941-3AC47BF742F8}"/>
                </a:ext>
              </a:extLst>
            </p:cNvPr>
            <p:cNvSpPr/>
            <p:nvPr/>
          </p:nvSpPr>
          <p:spPr>
            <a:xfrm>
              <a:off x="-45944225" y="2702625"/>
              <a:ext cx="125250" cy="298625"/>
            </a:xfrm>
            <a:custGeom>
              <a:avLst/>
              <a:gdLst/>
              <a:ahLst/>
              <a:cxnLst/>
              <a:rect l="l" t="t" r="r" b="b"/>
              <a:pathLst>
                <a:path w="5010" h="11945" extrusionOk="0">
                  <a:moveTo>
                    <a:pt x="2427" y="682"/>
                  </a:moveTo>
                  <a:cubicBezTo>
                    <a:pt x="2860" y="682"/>
                    <a:pt x="3308" y="817"/>
                    <a:pt x="3624" y="1107"/>
                  </a:cubicBezTo>
                  <a:cubicBezTo>
                    <a:pt x="4033" y="1454"/>
                    <a:pt x="4254" y="1926"/>
                    <a:pt x="4254" y="2430"/>
                  </a:cubicBezTo>
                  <a:cubicBezTo>
                    <a:pt x="4159" y="2745"/>
                    <a:pt x="4096" y="3060"/>
                    <a:pt x="3939" y="3344"/>
                  </a:cubicBezTo>
                  <a:cubicBezTo>
                    <a:pt x="3844" y="3470"/>
                    <a:pt x="3813" y="3533"/>
                    <a:pt x="3750" y="3659"/>
                  </a:cubicBezTo>
                  <a:cubicBezTo>
                    <a:pt x="3498" y="4005"/>
                    <a:pt x="3214" y="4446"/>
                    <a:pt x="3151" y="4919"/>
                  </a:cubicBezTo>
                  <a:lnTo>
                    <a:pt x="2805" y="4919"/>
                  </a:lnTo>
                  <a:lnTo>
                    <a:pt x="2805" y="2808"/>
                  </a:lnTo>
                  <a:lnTo>
                    <a:pt x="3151" y="2808"/>
                  </a:lnTo>
                  <a:cubicBezTo>
                    <a:pt x="3340" y="2808"/>
                    <a:pt x="3498" y="2651"/>
                    <a:pt x="3498" y="2430"/>
                  </a:cubicBezTo>
                  <a:cubicBezTo>
                    <a:pt x="3498" y="2241"/>
                    <a:pt x="3340" y="2084"/>
                    <a:pt x="3151" y="2084"/>
                  </a:cubicBezTo>
                  <a:lnTo>
                    <a:pt x="1733" y="2084"/>
                  </a:lnTo>
                  <a:cubicBezTo>
                    <a:pt x="1544" y="2084"/>
                    <a:pt x="1387" y="2241"/>
                    <a:pt x="1387" y="2430"/>
                  </a:cubicBezTo>
                  <a:cubicBezTo>
                    <a:pt x="1387" y="2651"/>
                    <a:pt x="1544" y="2808"/>
                    <a:pt x="1733" y="2808"/>
                  </a:cubicBezTo>
                  <a:lnTo>
                    <a:pt x="2080" y="2808"/>
                  </a:lnTo>
                  <a:lnTo>
                    <a:pt x="2080" y="4919"/>
                  </a:lnTo>
                  <a:lnTo>
                    <a:pt x="1733" y="4919"/>
                  </a:lnTo>
                  <a:cubicBezTo>
                    <a:pt x="1639" y="4478"/>
                    <a:pt x="1418" y="4100"/>
                    <a:pt x="1166" y="3690"/>
                  </a:cubicBezTo>
                  <a:cubicBezTo>
                    <a:pt x="1072" y="3533"/>
                    <a:pt x="977" y="3375"/>
                    <a:pt x="914" y="3218"/>
                  </a:cubicBezTo>
                  <a:cubicBezTo>
                    <a:pt x="757" y="2871"/>
                    <a:pt x="662" y="2525"/>
                    <a:pt x="757" y="2115"/>
                  </a:cubicBezTo>
                  <a:cubicBezTo>
                    <a:pt x="883" y="1422"/>
                    <a:pt x="1450" y="823"/>
                    <a:pt x="2174" y="697"/>
                  </a:cubicBezTo>
                  <a:cubicBezTo>
                    <a:pt x="2257" y="687"/>
                    <a:pt x="2342" y="682"/>
                    <a:pt x="2427" y="682"/>
                  </a:cubicBezTo>
                  <a:close/>
                  <a:moveTo>
                    <a:pt x="3151" y="5644"/>
                  </a:moveTo>
                  <a:lnTo>
                    <a:pt x="3151" y="6337"/>
                  </a:lnTo>
                  <a:lnTo>
                    <a:pt x="1733" y="6337"/>
                  </a:lnTo>
                  <a:lnTo>
                    <a:pt x="1733" y="5644"/>
                  </a:lnTo>
                  <a:close/>
                  <a:moveTo>
                    <a:pt x="3151" y="7061"/>
                  </a:moveTo>
                  <a:lnTo>
                    <a:pt x="3151" y="8983"/>
                  </a:lnTo>
                  <a:cubicBezTo>
                    <a:pt x="2915" y="8904"/>
                    <a:pt x="2671" y="8865"/>
                    <a:pt x="2430" y="8865"/>
                  </a:cubicBezTo>
                  <a:cubicBezTo>
                    <a:pt x="2190" y="8865"/>
                    <a:pt x="1954" y="8904"/>
                    <a:pt x="1733" y="8983"/>
                  </a:cubicBezTo>
                  <a:lnTo>
                    <a:pt x="1733" y="7061"/>
                  </a:lnTo>
                  <a:close/>
                  <a:moveTo>
                    <a:pt x="2442" y="9558"/>
                  </a:moveTo>
                  <a:cubicBezTo>
                    <a:pt x="2639" y="9558"/>
                    <a:pt x="2836" y="9598"/>
                    <a:pt x="3025" y="9676"/>
                  </a:cubicBezTo>
                  <a:lnTo>
                    <a:pt x="2427" y="10873"/>
                  </a:lnTo>
                  <a:lnTo>
                    <a:pt x="1859" y="9676"/>
                  </a:lnTo>
                  <a:cubicBezTo>
                    <a:pt x="2048" y="9598"/>
                    <a:pt x="2245" y="9558"/>
                    <a:pt x="2442" y="9558"/>
                  </a:cubicBezTo>
                  <a:close/>
                  <a:moveTo>
                    <a:pt x="2441" y="1"/>
                  </a:moveTo>
                  <a:cubicBezTo>
                    <a:pt x="2309" y="1"/>
                    <a:pt x="2178" y="12"/>
                    <a:pt x="2048" y="36"/>
                  </a:cubicBezTo>
                  <a:cubicBezTo>
                    <a:pt x="1072" y="193"/>
                    <a:pt x="221" y="1012"/>
                    <a:pt x="64" y="1989"/>
                  </a:cubicBezTo>
                  <a:cubicBezTo>
                    <a:pt x="1" y="2556"/>
                    <a:pt x="64" y="3060"/>
                    <a:pt x="316" y="3533"/>
                  </a:cubicBezTo>
                  <a:cubicBezTo>
                    <a:pt x="379" y="3753"/>
                    <a:pt x="505" y="3911"/>
                    <a:pt x="631" y="4068"/>
                  </a:cubicBezTo>
                  <a:cubicBezTo>
                    <a:pt x="820" y="4320"/>
                    <a:pt x="977" y="4604"/>
                    <a:pt x="1072" y="4888"/>
                  </a:cubicBezTo>
                  <a:lnTo>
                    <a:pt x="410" y="4888"/>
                  </a:lnTo>
                  <a:cubicBezTo>
                    <a:pt x="190" y="4888"/>
                    <a:pt x="32" y="5045"/>
                    <a:pt x="32" y="5234"/>
                  </a:cubicBezTo>
                  <a:cubicBezTo>
                    <a:pt x="32" y="5423"/>
                    <a:pt x="190" y="5581"/>
                    <a:pt x="410" y="5581"/>
                  </a:cubicBezTo>
                  <a:lnTo>
                    <a:pt x="1103" y="5581"/>
                  </a:lnTo>
                  <a:lnTo>
                    <a:pt x="1103" y="9487"/>
                  </a:lnTo>
                  <a:cubicBezTo>
                    <a:pt x="1103" y="9645"/>
                    <a:pt x="1103" y="9582"/>
                    <a:pt x="2206" y="11724"/>
                  </a:cubicBezTo>
                  <a:cubicBezTo>
                    <a:pt x="2301" y="11850"/>
                    <a:pt x="2395" y="11945"/>
                    <a:pt x="2521" y="11945"/>
                  </a:cubicBezTo>
                  <a:cubicBezTo>
                    <a:pt x="2647" y="11945"/>
                    <a:pt x="2773" y="11850"/>
                    <a:pt x="2836" y="11724"/>
                  </a:cubicBezTo>
                  <a:cubicBezTo>
                    <a:pt x="3939" y="9519"/>
                    <a:pt x="3939" y="9613"/>
                    <a:pt x="3939" y="9487"/>
                  </a:cubicBezTo>
                  <a:lnTo>
                    <a:pt x="3939" y="5581"/>
                  </a:lnTo>
                  <a:lnTo>
                    <a:pt x="4663" y="5581"/>
                  </a:lnTo>
                  <a:cubicBezTo>
                    <a:pt x="4852" y="5581"/>
                    <a:pt x="5010" y="5423"/>
                    <a:pt x="5010" y="5234"/>
                  </a:cubicBezTo>
                  <a:cubicBezTo>
                    <a:pt x="5010" y="5045"/>
                    <a:pt x="4852" y="4888"/>
                    <a:pt x="4663" y="4888"/>
                  </a:cubicBezTo>
                  <a:lnTo>
                    <a:pt x="3970" y="4888"/>
                  </a:lnTo>
                  <a:cubicBezTo>
                    <a:pt x="4065" y="4604"/>
                    <a:pt x="4254" y="4289"/>
                    <a:pt x="4443" y="4005"/>
                  </a:cubicBezTo>
                  <a:cubicBezTo>
                    <a:pt x="4411" y="3942"/>
                    <a:pt x="4506" y="3816"/>
                    <a:pt x="4569" y="3690"/>
                  </a:cubicBezTo>
                  <a:cubicBezTo>
                    <a:pt x="4821" y="3344"/>
                    <a:pt x="4915" y="2903"/>
                    <a:pt x="4915" y="2493"/>
                  </a:cubicBezTo>
                  <a:cubicBezTo>
                    <a:pt x="4915" y="1769"/>
                    <a:pt x="4600" y="1075"/>
                    <a:pt x="4065" y="603"/>
                  </a:cubicBezTo>
                  <a:cubicBezTo>
                    <a:pt x="3603" y="218"/>
                    <a:pt x="3017" y="1"/>
                    <a:pt x="24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" name="Google Shape;186;p33">
              <a:extLst>
                <a:ext uri="{FF2B5EF4-FFF2-40B4-BE49-F238E27FC236}">
                  <a16:creationId xmlns:a16="http://schemas.microsoft.com/office/drawing/2014/main" id="{7F85D561-64D4-4034-AE60-C9C86A0536EC}"/>
                </a:ext>
              </a:extLst>
            </p:cNvPr>
            <p:cNvSpPr/>
            <p:nvPr/>
          </p:nvSpPr>
          <p:spPr>
            <a:xfrm>
              <a:off x="-45804025" y="2755500"/>
              <a:ext cx="34675" cy="18125"/>
            </a:xfrm>
            <a:custGeom>
              <a:avLst/>
              <a:gdLst/>
              <a:ahLst/>
              <a:cxnLst/>
              <a:rect l="l" t="t" r="r" b="b"/>
              <a:pathLst>
                <a:path w="1387" h="725" extrusionOk="0">
                  <a:moveTo>
                    <a:pt x="347" y="0"/>
                  </a:moveTo>
                  <a:cubicBezTo>
                    <a:pt x="127" y="0"/>
                    <a:pt x="1" y="158"/>
                    <a:pt x="1" y="378"/>
                  </a:cubicBezTo>
                  <a:cubicBezTo>
                    <a:pt x="1" y="567"/>
                    <a:pt x="127" y="725"/>
                    <a:pt x="347" y="725"/>
                  </a:cubicBezTo>
                  <a:lnTo>
                    <a:pt x="1040" y="725"/>
                  </a:lnTo>
                  <a:cubicBezTo>
                    <a:pt x="1261" y="725"/>
                    <a:pt x="1387" y="567"/>
                    <a:pt x="1387" y="378"/>
                  </a:cubicBezTo>
                  <a:cubicBezTo>
                    <a:pt x="1387" y="158"/>
                    <a:pt x="1261" y="0"/>
                    <a:pt x="10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87;p33">
              <a:extLst>
                <a:ext uri="{FF2B5EF4-FFF2-40B4-BE49-F238E27FC236}">
                  <a16:creationId xmlns:a16="http://schemas.microsoft.com/office/drawing/2014/main" id="{DBB6F240-BC79-4B84-ABFF-8D690E344281}"/>
                </a:ext>
              </a:extLst>
            </p:cNvPr>
            <p:cNvSpPr/>
            <p:nvPr/>
          </p:nvSpPr>
          <p:spPr>
            <a:xfrm>
              <a:off x="-45998575" y="2755500"/>
              <a:ext cx="35475" cy="18125"/>
            </a:xfrm>
            <a:custGeom>
              <a:avLst/>
              <a:gdLst/>
              <a:ahLst/>
              <a:cxnLst/>
              <a:rect l="l" t="t" r="r" b="b"/>
              <a:pathLst>
                <a:path w="1419" h="725" extrusionOk="0">
                  <a:moveTo>
                    <a:pt x="379" y="0"/>
                  </a:moveTo>
                  <a:cubicBezTo>
                    <a:pt x="158" y="0"/>
                    <a:pt x="1" y="158"/>
                    <a:pt x="1" y="378"/>
                  </a:cubicBezTo>
                  <a:cubicBezTo>
                    <a:pt x="1" y="567"/>
                    <a:pt x="158" y="725"/>
                    <a:pt x="379" y="725"/>
                  </a:cubicBezTo>
                  <a:lnTo>
                    <a:pt x="1072" y="725"/>
                  </a:lnTo>
                  <a:cubicBezTo>
                    <a:pt x="1261" y="693"/>
                    <a:pt x="1419" y="536"/>
                    <a:pt x="1419" y="378"/>
                  </a:cubicBezTo>
                  <a:cubicBezTo>
                    <a:pt x="1419" y="158"/>
                    <a:pt x="1261" y="0"/>
                    <a:pt x="107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88;p33">
              <a:extLst>
                <a:ext uri="{FF2B5EF4-FFF2-40B4-BE49-F238E27FC236}">
                  <a16:creationId xmlns:a16="http://schemas.microsoft.com/office/drawing/2014/main" id="{C12F3409-7A73-4189-82ED-F01E4B8D6C8D}"/>
                </a:ext>
              </a:extLst>
            </p:cNvPr>
            <p:cNvSpPr/>
            <p:nvPr/>
          </p:nvSpPr>
          <p:spPr>
            <a:xfrm>
              <a:off x="-45818200" y="2703175"/>
              <a:ext cx="35475" cy="26100"/>
            </a:xfrm>
            <a:custGeom>
              <a:avLst/>
              <a:gdLst/>
              <a:ahLst/>
              <a:cxnLst/>
              <a:rect l="l" t="t" r="r" b="b"/>
              <a:pathLst>
                <a:path w="1419" h="1044" extrusionOk="0">
                  <a:moveTo>
                    <a:pt x="991" y="1"/>
                  </a:moveTo>
                  <a:cubicBezTo>
                    <a:pt x="930" y="1"/>
                    <a:pt x="870" y="15"/>
                    <a:pt x="820" y="45"/>
                  </a:cubicBezTo>
                  <a:lnTo>
                    <a:pt x="252" y="423"/>
                  </a:lnTo>
                  <a:cubicBezTo>
                    <a:pt x="95" y="486"/>
                    <a:pt x="0" y="738"/>
                    <a:pt x="126" y="896"/>
                  </a:cubicBezTo>
                  <a:cubicBezTo>
                    <a:pt x="205" y="994"/>
                    <a:pt x="309" y="1044"/>
                    <a:pt x="414" y="1044"/>
                  </a:cubicBezTo>
                  <a:cubicBezTo>
                    <a:pt x="476" y="1044"/>
                    <a:pt x="540" y="1026"/>
                    <a:pt x="599" y="990"/>
                  </a:cubicBezTo>
                  <a:lnTo>
                    <a:pt x="1166" y="644"/>
                  </a:lnTo>
                  <a:cubicBezTo>
                    <a:pt x="1324" y="581"/>
                    <a:pt x="1418" y="329"/>
                    <a:pt x="1292" y="171"/>
                  </a:cubicBezTo>
                  <a:cubicBezTo>
                    <a:pt x="1249" y="64"/>
                    <a:pt x="1119" y="1"/>
                    <a:pt x="99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89;p33">
              <a:extLst>
                <a:ext uri="{FF2B5EF4-FFF2-40B4-BE49-F238E27FC236}">
                  <a16:creationId xmlns:a16="http://schemas.microsoft.com/office/drawing/2014/main" id="{085B8BE9-5A98-41F2-98F4-604259CB9B96}"/>
                </a:ext>
              </a:extLst>
            </p:cNvPr>
            <p:cNvSpPr/>
            <p:nvPr/>
          </p:nvSpPr>
          <p:spPr>
            <a:xfrm>
              <a:off x="-45984400" y="2799050"/>
              <a:ext cx="35475" cy="26100"/>
            </a:xfrm>
            <a:custGeom>
              <a:avLst/>
              <a:gdLst/>
              <a:ahLst/>
              <a:cxnLst/>
              <a:rect l="l" t="t" r="r" b="b"/>
              <a:pathLst>
                <a:path w="1419" h="1044" extrusionOk="0">
                  <a:moveTo>
                    <a:pt x="1014" y="1"/>
                  </a:moveTo>
                  <a:cubicBezTo>
                    <a:pt x="947" y="1"/>
                    <a:pt x="879" y="18"/>
                    <a:pt x="820" y="54"/>
                  </a:cubicBezTo>
                  <a:lnTo>
                    <a:pt x="221" y="400"/>
                  </a:lnTo>
                  <a:cubicBezTo>
                    <a:pt x="64" y="463"/>
                    <a:pt x="1" y="716"/>
                    <a:pt x="95" y="873"/>
                  </a:cubicBezTo>
                  <a:cubicBezTo>
                    <a:pt x="160" y="980"/>
                    <a:pt x="282" y="1043"/>
                    <a:pt x="403" y="1043"/>
                  </a:cubicBezTo>
                  <a:cubicBezTo>
                    <a:pt x="461" y="1043"/>
                    <a:pt x="517" y="1029"/>
                    <a:pt x="568" y="999"/>
                  </a:cubicBezTo>
                  <a:lnTo>
                    <a:pt x="1167" y="621"/>
                  </a:lnTo>
                  <a:cubicBezTo>
                    <a:pt x="1324" y="558"/>
                    <a:pt x="1419" y="306"/>
                    <a:pt x="1293" y="148"/>
                  </a:cubicBezTo>
                  <a:cubicBezTo>
                    <a:pt x="1234" y="50"/>
                    <a:pt x="1125" y="1"/>
                    <a:pt x="101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90;p33">
              <a:extLst>
                <a:ext uri="{FF2B5EF4-FFF2-40B4-BE49-F238E27FC236}">
                  <a16:creationId xmlns:a16="http://schemas.microsoft.com/office/drawing/2014/main" id="{76202B61-CE23-4639-8D64-64B8F34E02F1}"/>
                </a:ext>
              </a:extLst>
            </p:cNvPr>
            <p:cNvSpPr/>
            <p:nvPr/>
          </p:nvSpPr>
          <p:spPr>
            <a:xfrm>
              <a:off x="-45815850" y="2799050"/>
              <a:ext cx="33900" cy="25750"/>
            </a:xfrm>
            <a:custGeom>
              <a:avLst/>
              <a:gdLst/>
              <a:ahLst/>
              <a:cxnLst/>
              <a:rect l="l" t="t" r="r" b="b"/>
              <a:pathLst>
                <a:path w="1356" h="1030" extrusionOk="0">
                  <a:moveTo>
                    <a:pt x="343" y="1"/>
                  </a:moveTo>
                  <a:cubicBezTo>
                    <a:pt x="231" y="1"/>
                    <a:pt x="123" y="50"/>
                    <a:pt x="64" y="148"/>
                  </a:cubicBezTo>
                  <a:cubicBezTo>
                    <a:pt x="1" y="306"/>
                    <a:pt x="32" y="558"/>
                    <a:pt x="190" y="621"/>
                  </a:cubicBezTo>
                  <a:lnTo>
                    <a:pt x="789" y="999"/>
                  </a:lnTo>
                  <a:cubicBezTo>
                    <a:pt x="838" y="1019"/>
                    <a:pt x="895" y="1029"/>
                    <a:pt x="951" y="1029"/>
                  </a:cubicBezTo>
                  <a:cubicBezTo>
                    <a:pt x="1073" y="1029"/>
                    <a:pt x="1197" y="981"/>
                    <a:pt x="1261" y="873"/>
                  </a:cubicBezTo>
                  <a:cubicBezTo>
                    <a:pt x="1356" y="716"/>
                    <a:pt x="1293" y="526"/>
                    <a:pt x="1135" y="400"/>
                  </a:cubicBezTo>
                  <a:lnTo>
                    <a:pt x="537" y="54"/>
                  </a:lnTo>
                  <a:cubicBezTo>
                    <a:pt x="477" y="18"/>
                    <a:pt x="410" y="1"/>
                    <a:pt x="34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91;p33">
              <a:extLst>
                <a:ext uri="{FF2B5EF4-FFF2-40B4-BE49-F238E27FC236}">
                  <a16:creationId xmlns:a16="http://schemas.microsoft.com/office/drawing/2014/main" id="{47CCC710-82CC-4282-BBD2-AFF7CE705D28}"/>
                </a:ext>
              </a:extLst>
            </p:cNvPr>
            <p:cNvSpPr/>
            <p:nvPr/>
          </p:nvSpPr>
          <p:spPr>
            <a:xfrm>
              <a:off x="-45983600" y="2702750"/>
              <a:ext cx="34675" cy="25525"/>
            </a:xfrm>
            <a:custGeom>
              <a:avLst/>
              <a:gdLst/>
              <a:ahLst/>
              <a:cxnLst/>
              <a:rect l="l" t="t" r="r" b="b"/>
              <a:pathLst>
                <a:path w="1387" h="1021" extrusionOk="0">
                  <a:moveTo>
                    <a:pt x="398" y="0"/>
                  </a:moveTo>
                  <a:cubicBezTo>
                    <a:pt x="269" y="0"/>
                    <a:pt x="138" y="49"/>
                    <a:pt x="95" y="157"/>
                  </a:cubicBezTo>
                  <a:cubicBezTo>
                    <a:pt x="0" y="314"/>
                    <a:pt x="32" y="535"/>
                    <a:pt x="189" y="629"/>
                  </a:cubicBezTo>
                  <a:lnTo>
                    <a:pt x="788" y="976"/>
                  </a:lnTo>
                  <a:cubicBezTo>
                    <a:pt x="839" y="1006"/>
                    <a:pt x="899" y="1020"/>
                    <a:pt x="959" y="1020"/>
                  </a:cubicBezTo>
                  <a:cubicBezTo>
                    <a:pt x="1088" y="1020"/>
                    <a:pt x="1218" y="957"/>
                    <a:pt x="1261" y="850"/>
                  </a:cubicBezTo>
                  <a:cubicBezTo>
                    <a:pt x="1387" y="692"/>
                    <a:pt x="1292" y="503"/>
                    <a:pt x="1135" y="377"/>
                  </a:cubicBezTo>
                  <a:lnTo>
                    <a:pt x="567" y="31"/>
                  </a:lnTo>
                  <a:cubicBezTo>
                    <a:pt x="518" y="11"/>
                    <a:pt x="458" y="0"/>
                    <a:pt x="39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52007743-950B-496A-83F2-384296C043CC}"/>
              </a:ext>
            </a:extLst>
          </p:cNvPr>
          <p:cNvSpPr txBox="1"/>
          <p:nvPr/>
        </p:nvSpPr>
        <p:spPr>
          <a:xfrm>
            <a:off x="1941896" y="1021885"/>
            <a:ext cx="849188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solidFill>
                  <a:srgbClr val="8BE5EA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Руководитель проекта – </a:t>
            </a:r>
            <a:r>
              <a:rPr lang="ru-RU" sz="2400" dirty="0">
                <a:solidFill>
                  <a:srgbClr val="E34D1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Илья</a:t>
            </a:r>
          </a:p>
          <a:p>
            <a:pPr algn="just"/>
            <a:r>
              <a:rPr lang="ru-RU" sz="2400" dirty="0">
                <a:solidFill>
                  <a:srgbClr val="E34D1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Разработал концепцию и стилистику игры, ведущий программист</a:t>
            </a:r>
            <a:endParaRPr lang="ru-RU" sz="2000" dirty="0">
              <a:solidFill>
                <a:srgbClr val="E34D1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CC0AD0D-42DA-4952-8791-5D07C25BD33A}"/>
              </a:ext>
            </a:extLst>
          </p:cNvPr>
          <p:cNvSpPr txBox="1"/>
          <p:nvPr/>
        </p:nvSpPr>
        <p:spPr>
          <a:xfrm>
            <a:off x="1941896" y="2476310"/>
            <a:ext cx="838601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solidFill>
                  <a:srgbClr val="8BE5EA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Дизайнеры – </a:t>
            </a:r>
            <a:r>
              <a:rPr lang="ru-RU" sz="2400" dirty="0">
                <a:solidFill>
                  <a:srgbClr val="E34D1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Кристиан и Анастасия</a:t>
            </a:r>
          </a:p>
          <a:p>
            <a:r>
              <a:rPr lang="ru-RU" sz="2400" dirty="0">
                <a:solidFill>
                  <a:srgbClr val="E34D1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Занимались разработкой графики и анимации, разрабатывали программный код</a:t>
            </a:r>
            <a:endParaRPr lang="ru-RU" sz="2400" dirty="0">
              <a:solidFill>
                <a:srgbClr val="E34D1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BA3079-D32C-4104-AA11-61B119DA8449}"/>
              </a:ext>
            </a:extLst>
          </p:cNvPr>
          <p:cNvSpPr txBox="1"/>
          <p:nvPr/>
        </p:nvSpPr>
        <p:spPr>
          <a:xfrm>
            <a:off x="1941897" y="4222049"/>
            <a:ext cx="845076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solidFill>
                  <a:srgbClr val="8BE5EA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Джуниор – </a:t>
            </a:r>
            <a:r>
              <a:rPr lang="ru-RU" sz="2400" dirty="0">
                <a:solidFill>
                  <a:srgbClr val="E34D1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Филипп</a:t>
            </a:r>
          </a:p>
          <a:p>
            <a:r>
              <a:rPr lang="ru-RU" sz="2400" dirty="0">
                <a:solidFill>
                  <a:srgbClr val="E34D1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Выполнял вспомогательные задачи и играл)</a:t>
            </a:r>
            <a:endParaRPr lang="ru-RU" sz="2400" dirty="0">
              <a:solidFill>
                <a:srgbClr val="E34D1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AA28D82-23F2-4ACD-8265-112460C56CD6}"/>
              </a:ext>
            </a:extLst>
          </p:cNvPr>
          <p:cNvSpPr txBox="1"/>
          <p:nvPr/>
        </p:nvSpPr>
        <p:spPr>
          <a:xfrm>
            <a:off x="443566" y="5789282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solidFill>
                  <a:srgbClr val="E34D1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Совместная разработка организована с помощью </a:t>
            </a:r>
            <a:endParaRPr lang="ru-RU" dirty="0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D1DDDF3C-D7BD-4250-B49D-2E3A019324E5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036068" y="5203520"/>
            <a:ext cx="4529486" cy="1265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6129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694B8E7-E721-430A-931A-DD40CF5DF3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3224" y="0"/>
            <a:ext cx="4198776" cy="685800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6AD672C8-FABF-4C4F-BABC-B6574F0FD54E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020202"/>
              </a:clrFrom>
              <a:clrTo>
                <a:srgbClr val="020202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26807" y="1772879"/>
            <a:ext cx="6747140" cy="2554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90240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</TotalTime>
  <Words>285</Words>
  <Application>Microsoft Office PowerPoint</Application>
  <PresentationFormat>Широкоэкранный</PresentationFormat>
  <Paragraphs>49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9" baseType="lpstr">
      <vt:lpstr>Arial</vt:lpstr>
      <vt:lpstr>Calibri</vt:lpstr>
      <vt:lpstr>Calibri Light</vt:lpstr>
      <vt:lpstr>Cascadia Code</vt:lpstr>
      <vt:lpstr>Cascadia Code Light</vt:lpstr>
      <vt:lpstr>Cascadia Code SemiBold</vt:lpstr>
      <vt:lpstr>Cascadia Mono SemiBold</vt:lpstr>
      <vt:lpstr>YS Text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FAK</dc:creator>
  <cp:lastModifiedBy>FAK</cp:lastModifiedBy>
  <cp:revision>65</cp:revision>
  <dcterms:created xsi:type="dcterms:W3CDTF">2023-12-23T16:54:30Z</dcterms:created>
  <dcterms:modified xsi:type="dcterms:W3CDTF">2023-12-23T20:24:55Z</dcterms:modified>
</cp:coreProperties>
</file>